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67" r:id="rId4"/>
    <p:sldId id="271" r:id="rId20"/>
    <p:sldId id="259" r:id="rId6"/>
    <p:sldId id="275" r:id="rId24"/>
    <p:sldId id="276" r:id="rId25"/>
    <p:sldId id="260" r:id="rId7"/>
    <p:sldId id="261" r:id="rId8"/>
    <p:sldId id="262" r:id="rId9"/>
    <p:sldId id="272" r:id="rId21"/>
    <p:sldId id="273" r:id="rId22"/>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4" d="100"/>
          <a:sy n="94" d="100"/>
        </p:scale>
        <p:origin x="69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4" Type="http://schemas.openxmlformats.org/officeDocument/2006/relationships/slide" Target="slides/slide18.xml"/><Relationship Id="rId25"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43261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0:15] Buenas noches. Les presento NutriAgente, un agente de IA generativa que ayuda al encargado del comedor de una planta a armar y controlar el menú mensual con un semáforo nutricional. Voy a contar el problema, la arquitectura capa por capa —desde el pipeline de datos hasta el despliegue en Azure— y al final la demo.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0:45] El problema: el menú se armaba a mano en Excel. No había forma de comprobar que el mes cumpliera el balance verde/ámbar/rojo, los platos se repetían sin control y consultar o cambiar un menú pasado era revisar el Excel. El usuario es el encargado del comedor, no un técnico: por eso la interfaz es un chat.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1:30] Esta es la arquitectura. Es de MICROSERVICIOS: el sistema está dividido en dos servicios independientes en la nube de Azure, cada uno en su propio contenedor. El FRONTEND (nutriagente-app, en rosado) es la página web que ve el usuario; es lo único público. El BACKEND (nutriagente-mcp, en morado) tiene las 6 herramientas; es interno, nadie de afuera puede entrar. Sigamos los números. 1) El encargado entra desde su navegador por internet y escribe, por ejemplo, «búscame algo con pollo». 2) En el frontend vive el agente: Claude Haiku entiende el pedido y decide qué herramienta necesita. 3) Se la pide al backend usando MCP, un estándar para que un agente use herramientas que están en otro servicio. 4) El backend ejecuta la herramienta. 5) Según la herramienta, usa LlamaIndex y Cohere para buscar platos por significado, Claude Haiku para clasificar el semáforo, o Azure SQL para leer y guardar menús. 6) El resultado vuelve al frontend, el agente redacta la respuesta y el usuario la ve. Abajo, Azure Container Registry guarda las dos imágenes Docker, que son como las «cajas» con todo lo que cada servicio necesita para funcionar. ¿Por qué separarlo así? Puedo actualizar uno sin tocar el otro, cada uno crece según su uso —y se apaga solo cuando nadie lo usa— y por seguridad solo la web queda expuesta.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1:00] Estas son las 6 herramientas. El agente, que es Claude Haiku en el frontend, decide cuál usar; y cada herramienta, en el backend, usa un recurso distinto, que ven en las etiquetas de color. Buscar platos usa LlamaIndex y Cohere: busca por significado, por eso entiende errores de tipeo. Semaforizar usa Claude Haiku con las reglas y ejemplos del nutricionista. Registrar un plato usa las tres: primero revisa que no exista, luego lo guarda en Azure SQL, lo clasifica con Claude y lo agrega al buscador. Generar el menú usa un algoritmo greedy que cada día elige el plato que más acerca el mes al balance 60/30/10; solo llama a Claude para clasificar platos que aún no tienen semáforo, y guarda todo en Azure SQL. Consultar y modificar el menú trabajan solo con Azure SQL.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0:45] RAG significa «generación aumentada con recuperación»: antes de responder, el agente busca en mis propios datos. Paso 1: el usuario pide algo y el agente lanza una búsqueda. Paso 2: Cohere convierte ese texto en un vector, una lista de números que representa su significado. Paso 3: LlamaIndex compara ese vector con los de todos los platos y trae los más parecidos; por eso encuentra «pollo al horno» aunque el usuario escriba con errores o con otras palabras. Paso 4: cada resultado viene con sus datos: tipo de plato, insumo y turno. Paso 5: el agente responde; si el plato es casi idéntico a uno existente, avisa para no duplicarlo. La ventaja: el agente no inventa platos, usa solo los del catálogo.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0:45] El agente tiene dos tipos de memoria, como una persona. La de corto plazo es la conversación: mientras chateas, recuerda lo que dijiste antes; por eso entiende «cámbialo por otro» sin repetir el plato. Esa memoria la maneja MemorySaver, de LangGraph, y vive en el servidor mientras la página está abierta; cada usuario tiene la suya y al cerrar la página se olvida. La de largo plazo es lo que queda guardado en Azure SQL aunque se apague todo: los menús de cada día con su semáforo, los platos nuevos y la caché del semáforo, que evita clasificar dos veces el mismo plato.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0:15] Para cerrar: NutriAgente combina ingeniería de datos, RAG, un agente con herramientas vía MCP y un despliegue en contenedores en Azure. Gracias, quedo atento a sus preguntas.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 0:45] El semáforo NO calcula calorías: son reglas cualitativas del nutricionista, sacadas del Excel SEMÁFORO DE LA NUTRICIÓN. Cada plato se evalúa en 6 dimensiones con Verde, Ámbar o Rojo. Por ejemplo, un plato a base de arroz es rojo en Energía y Carbohidratos; si lleva sillao es rojo en Sodio. Quien aplica las reglas es Claude Haiku, al que además le paso ejemplos reales que el nutricionista ya clasificó (técnica few-shot). Si el modelo duda entre dos colores, la instrucción es elegir el más restrictivo. La meta del mes es 60 % verde, 30 % ámbar y 10 % rojo.</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 1:15] Esta es mi parte de ingeniería de datos. No está en los contenedores porque es un pipeline offline: se corre una sola vez y deja listos los artefactos. Archivo 1 es un ETL: leo tres Excel del comedor y dos PDF del MINSA; como cada hoja del Excel tiene un formato distinto escribí un parser por hoja, y de los PDF saco los nombres de recetas con pdfplumber y expresiones regulares. Normalizo nombres, asigno insumo, rol y turno, elimino 32 duplicados y genero platos_kb.json con 512 platos y las reglas del semáforo. Archivo 2 indexa: cada plato es un nodo completo con su metadata, los PDF se fragmentan en trozos de 512 tokens con solapamiento, y Cohere multilingüe genera vectores de 1024 dimensiones. El resultado son 829 nodos guardados en disco; ese índice se copia a la imagen del microservicio MCP.</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 0:40] Seguridad: las llaves llegan por variables de entorno; el modelo nunca escribe SQL, solo usa mis herramientas con consultas parametrizadas; cada dato que manda el modelo se revisa antes de usarse (con la librería Pydantic) y las acciones delicadas piden confirmación. Todo queda trazado en LangSmith. Costos: usé Haiku, el modelo ligero; el índice vectorial es un archivo en disco, así que no pago una base de datos vectorial aparte; la caché evita clasificar dos veces el mismo plato; el menú lo arma un algoritmo, no el LLM; y los contenedores escalan a cero. En la práctica, en Azure gasto alrededor de 0.56 dólares al día: casi todo es Container Registry, que cobra una tarifa diaria fija por guardar las imágenes, y Azure SQL. Container Apps me cuesta cero porque se apaga cuando nadie lo usa, y la base de datos es serverless: se pausa sola después de una hora sin uso, así que solo pago cómputo cuando se usa.</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 4:00] Demo en la web pública. Recomendaciones: 1) Genera el menú de noviembre ANTES de exponer y NO lo pidas en vivo: la herramienta clasifica platos con Haiku antes de avisar que el mes ya existe y puede pasar el límite de 60 segundos de la app. 2) Para cambiar el postre usa un plato que ya esté en el menú (debe existir en la caché del semáforo); ensáyalo antes. 3) Abre la web unos minutos antes: si los contenedores escalaron a cero, la primera carga tarda. 4) Ten capturas o un video corto como plan B por si falla la conexión.</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 1:15] Estas son las piezas del agente, explicadas con una analogía de restaurante. STREAMLIT es el salón: la página web donde el encargado escribe. La usé porque se hace solo con Python. CLAUDE HAIKU es el cerebro, como el mesero que entiende el pedido: lee lo que escribe el usuario, decide qué herramienta usar y redacta la respuesta; además clasifica los platos en el semáforo. Elegí Haiku porque es el modelo rápido y económico de Anthropic. LANGCHAIN es la caja de herramientas para construir el agente: me da piezas listas para conectar el modelo con mis 6 funciones, sin programar esa conexión desde cero. LANGGRAPH es la parte de LangChain que dirige el trabajo del agente: primero piensa, luego usa una herramienta si la necesita y al final responde. También guarda la memoria de la conversación. FASTMCP es como la cocina separada del salón: las 6 herramientas viven en otro servicio y el agente se las pide por la red usando MCP, un estándar para conectar agentes con herramientas. Así puedo cambiar la cocina sin tocar el salón. LANGSMITH es un panel de control en la web: ahí veo cada conversación paso a paso, qué herramienta usó el agente, con qué datos y cuánto tardó.</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t>[⏱ 1:00] Ahora las tecnologías de datos y nube. OPENPYXL y PDFPLUMBER los usé en el Archivo 1 para leer los Excel del comedor y sacar el texto de los PDF del MINSA. COHERE es el modelo de embeddings: convierte un texto en un vector de 1024 números que representa su significado; dos platos parecidos tienen vectores parecidos. Lo elegí porque todo está en español y su modelo es multilingüe. LLAMAINDEX es la librería de RAG: en el Archivo 2 leyó los JSON y PDF, los partió en nodos y guardó los vectores; en el agente hace la búsqueda de los platos más parecidos. SIMPLEVECTORSTORE es el almacén de vectores más simple de LlamaIndex: un archivo en disco. Como el índice es pequeño, no necesité una base vectorial aparte; el índice viaja dentro de la imagen Docker del backend. AZURE SQL guarda lo que debe persistir y consultarse por fecha: los menús, los platos nuevos, la caché del semáforo y el historial. DOCKER empaqueta cada microservicio con todo lo que necesita, por ejemplo el driver ODBC para SQL, y AZURE CONTAINER APPS los ejecuta sin que yo administre servidores, escalando a cero cuando no hay uso.</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B1E"/>
        </a:solidFill>
        <a:effectLst/>
      </p:bgPr>
    </p:bg>
    <p:spTree>
      <p:nvGrpSpPr>
        <p:cNvPr id="1" name=""/>
        <p:cNvGrpSpPr/>
        <p:nvPr/>
      </p:nvGrpSpPr>
      <p:grpSpPr>
        <a:xfrm>
          <a:off x="0" y="0"/>
          <a:ext cx="0" cy="0"/>
          <a:chOff x="0" y="0"/>
          <a:chExt cx="0" cy="0"/>
        </a:xfrm>
      </p:grpSpPr>
      <p:sp>
        <p:nvSpPr>
          <p:cNvPr id="2" name="Shape 0"/>
          <p:cNvSpPr/>
          <p:nvPr/>
        </p:nvSpPr>
        <p:spPr>
          <a:xfrm>
            <a:off x="0" y="0"/>
            <a:ext cx="3291840" cy="5143500"/>
          </a:xfrm>
          <a:prstGeom prst="rect">
            <a:avLst/>
          </a:prstGeom>
          <a:solidFill>
            <a:srgbClr val="1A5C38"/>
          </a:solidFill>
          <a:ln/>
        </p:spPr>
      </p:sp>
      <p:sp>
        <p:nvSpPr>
          <p:cNvPr id="3" name="Shape 1"/>
          <p:cNvSpPr/>
          <p:nvPr/>
        </p:nvSpPr>
        <p:spPr>
          <a:xfrm>
            <a:off x="1280160" y="548640"/>
            <a:ext cx="685800" cy="685800"/>
          </a:xfrm>
          <a:prstGeom prst="ellipse">
            <a:avLst/>
          </a:prstGeom>
          <a:solidFill>
            <a:srgbClr val="2E8B57"/>
          </a:solidFill>
          <a:ln/>
        </p:spPr>
      </p:sp>
      <p:sp>
        <p:nvSpPr>
          <p:cNvPr id="4" name="Shape 2"/>
          <p:cNvSpPr/>
          <p:nvPr/>
        </p:nvSpPr>
        <p:spPr>
          <a:xfrm>
            <a:off x="1280160" y="1188720"/>
            <a:ext cx="685800" cy="685800"/>
          </a:xfrm>
          <a:prstGeom prst="ellipse">
            <a:avLst/>
          </a:prstGeom>
          <a:solidFill>
            <a:srgbClr val="FFFF00"/>
          </a:solidFill>
          <a:ln/>
        </p:spPr>
      </p:sp>
      <p:sp>
        <p:nvSpPr>
          <p:cNvPr id="5" name="Shape 3"/>
          <p:cNvSpPr/>
          <p:nvPr/>
        </p:nvSpPr>
        <p:spPr>
          <a:xfrm>
            <a:off x="1280160" y="1828800"/>
            <a:ext cx="685800" cy="685800"/>
          </a:xfrm>
          <a:prstGeom prst="ellipse">
            <a:avLst/>
          </a:prstGeom>
          <a:solidFill>
            <a:srgbClr val="C0392B"/>
          </a:solidFill>
          <a:ln/>
        </p:spPr>
      </p:sp>
      <p:sp>
        <p:nvSpPr>
          <p:cNvPr id="6" name="Text 4"/>
          <p:cNvSpPr txBox="1"/>
          <p:nvPr/>
        </p:nvSpPr>
        <p:spPr>
          <a:xfrm>
            <a:off x="3566160" y="731520"/>
            <a:ext cx="5303520" cy="100584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NutriAgente</a:t>
            </a:r>
            <a:endParaRPr lang="en-US" sz="4800" dirty="0"/>
          </a:p>
        </p:txBody>
      </p:sp>
      <p:sp>
        <p:nvSpPr>
          <p:cNvPr id="7" name="Text 5"/>
          <p:cNvSpPr txBox="1"/>
          <p:nvPr/>
        </p:nvSpPr>
        <p:spPr>
          <a:xfrm>
            <a:off x="3566160" y="1737360"/>
            <a:ext cx="5303520" cy="1005840"/>
          </a:xfrm>
          <a:prstGeom prst="rect">
            <a:avLst/>
          </a:prstGeom>
          <a:noFill/>
          <a:ln/>
        </p:spPr>
        <p:txBody>
          <a:bodyPr wrap="square" lIns="0" tIns="0" rIns="0" bIns="0" rtlCol="0" anchor="ctr"/>
          <a:lstStyle/>
          <a:p>
            <a:pPr marL="0" indent="0">
              <a:buNone/>
            </a:pPr>
            <a:r>
              <a:rPr lang="en-US" sz="1800" dirty="0">
                <a:solidFill>
                  <a:srgbClr val="A8D5BA"/>
                </a:solidFill>
                <a:latin typeface="Calibri" pitchFamily="34" charset="0"/>
                <a:ea typeface="Calibri" pitchFamily="34" charset="-122"/>
                <a:cs typeface="Calibri" pitchFamily="34" charset="-120"/>
              </a:rPr>
              <a:t>Agente Inteligente para Gestión</a:t>
            </a:r>
            <a:endParaRPr lang="en-US" sz="1800" dirty="0"/>
          </a:p>
          <a:p>
            <a:pPr marL="0" indent="0">
              <a:buNone/>
            </a:pPr>
            <a:r>
              <a:rPr lang="en-US" sz="1800" dirty="0">
                <a:solidFill>
                  <a:srgbClr val="A8D5BA"/>
                </a:solidFill>
                <a:latin typeface="Calibri" pitchFamily="34" charset="0"/>
                <a:ea typeface="Calibri" pitchFamily="34" charset="-122"/>
                <a:cs typeface="Calibri" pitchFamily="34" charset="-120"/>
              </a:rPr>
              <a:t>de Menú del Comedor Corporativo</a:t>
            </a:r>
            <a:endParaRPr lang="en-US" sz="1800" dirty="0"/>
          </a:p>
        </p:txBody>
      </p:sp>
      <p:sp>
        <p:nvSpPr>
          <p:cNvPr id="8" name="Shape 6"/>
          <p:cNvSpPr/>
          <p:nvPr/>
        </p:nvSpPr>
        <p:spPr>
          <a:xfrm>
            <a:off x="3566160" y="2880360"/>
            <a:ext cx="5303520" cy="45720"/>
          </a:xfrm>
          <a:prstGeom prst="rect">
            <a:avLst/>
          </a:prstGeom>
          <a:solidFill>
            <a:srgbClr val="2E8B57"/>
          </a:solidFill>
          <a:ln/>
        </p:spPr>
      </p:sp>
      <p:sp>
        <p:nvSpPr>
          <p:cNvPr id="9" name="Text 7"/>
          <p:cNvSpPr txBox="1"/>
          <p:nvPr/>
        </p:nvSpPr>
        <p:spPr>
          <a:xfrm>
            <a:off x="3566160" y="3017520"/>
            <a:ext cx="5303520" cy="822960"/>
          </a:xfrm>
          <a:prstGeom prst="rect">
            <a:avLst/>
          </a:prstGeom>
          <a:noFill/>
          <a:ln/>
        </p:spPr>
        <p:txBody>
          <a:bodyPr wrap="square" lIns="0" tIns="0" rIns="0" bIns="0" rtlCol="0" anchor="ctr"/>
          <a:lstStyle/>
          <a:p>
            <a:pPr marL="0" indent="0">
              <a:buNone/>
            </a:pPr>
            <a:r>
              <a:rPr lang="en-US" sz="1300" dirty="0">
                <a:solidFill>
                  <a:srgbClr val="7DB89A"/>
                </a:solidFill>
                <a:latin typeface="Calibri" pitchFamily="34" charset="0"/>
                <a:ea typeface="Calibri" pitchFamily="34" charset="-122"/>
                <a:cs typeface="Calibri" pitchFamily="34" charset="-120"/>
              </a:rPr>
              <a:t>Proyecto Módulo IV — Agente con Herramientas + RAG + MCP</a:t>
            </a:r>
            <a:endParaRPr lang="en-US" sz="1300" dirty="0"/>
          </a:p>
          <a:p>
            <a:pPr marL="0" indent="0">
              <a:buNone/>
            </a:pPr>
            <a:r>
              <a:rPr lang="en-US" sz="1300" dirty="0">
                <a:solidFill>
                  <a:srgbClr val="7DB89A"/>
                </a:solidFill>
                <a:latin typeface="Calibri" pitchFamily="34" charset="0"/>
                <a:ea typeface="Calibri" pitchFamily="34" charset="-122"/>
                <a:cs typeface="Calibri" pitchFamily="34" charset="-120"/>
              </a:rPr>
              <a:t>FastMCP · LlamaIndex · Azure SQL · Cohere · Claude Haiku · Streamlit</a:t>
            </a:r>
            <a:endParaRPr lang="en-US" sz="1300" dirty="0"/>
          </a:p>
        </p:txBody>
      </p:sp>
      <p:sp>
        <p:nvSpPr>
          <p:cNvPr id="10" name="Text 8"/>
          <p:cNvSpPr txBox="1"/>
          <p:nvPr/>
        </p:nvSpPr>
        <p:spPr>
          <a:xfrm>
            <a:off x="3566160" y="4389120"/>
            <a:ext cx="1097280" cy="365760"/>
          </a:xfrm>
          <a:prstGeom prst="rect">
            <a:avLst/>
          </a:prstGeom>
          <a:noFill/>
          <a:ln/>
        </p:spPr>
        <p:txBody>
          <a:bodyPr wrap="square" lIns="0" tIns="0" rIns="0" bIns="0" rtlCol="0" anchor="ctr"/>
          <a:lstStyle/>
          <a:p>
            <a:pPr marL="0" indent="0">
              <a:buNone/>
            </a:pPr>
            <a:r>
              <a:rPr lang="en-US" sz="1300" dirty="0">
                <a:solidFill>
                  <a:srgbClr val="5A7265"/>
                </a:solidFill>
                <a:latin typeface="Calibri" pitchFamily="34" charset="0"/>
                <a:ea typeface="Calibri" pitchFamily="34" charset="-122"/>
                <a:cs typeface="Calibri" pitchFamily="34" charset="-120"/>
              </a:rPr>
              <a:t>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F5EE"/>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5C38"/>
          </a:solidFill>
          <a:ln/>
        </p:spPr>
      </p:sp>
      <p:sp>
        <p:nvSpPr>
          <p:cNvPr id="3" name="Text 1"/>
          <p:cNvSpPr txBox="1"/>
          <p:nvPr/>
        </p:nvSpPr>
        <p:spPr>
          <a:xfrm>
            <a:off x="365760" y="91440"/>
            <a:ext cx="8229600" cy="7315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El Problema</a:t>
            </a:r>
            <a:endParaRPr lang="en-US" sz="3000" dirty="0"/>
          </a:p>
        </p:txBody>
      </p:sp>
      <p:sp>
        <p:nvSpPr>
          <p:cNvPr id="4" name="Shape 2"/>
          <p:cNvSpPr/>
          <p:nvPr/>
        </p:nvSpPr>
        <p:spPr>
          <a:xfrm>
            <a:off x="320040" y="1143000"/>
            <a:ext cx="2651760" cy="3291840"/>
          </a:xfrm>
          <a:prstGeom prst="roundRect">
            <a:avLst>
              <a:gd name="adj" fmla="val 3448"/>
            </a:avLst>
          </a:prstGeom>
          <a:solidFill>
            <a:srgbClr val="FFFFFF"/>
          </a:solidFill>
          <a:ln w="12700">
            <a:solidFill>
              <a:srgbClr val="C8DDD4"/>
            </a:solidFill>
            <a:prstDash val="solid"/>
          </a:ln>
        </p:spPr>
      </p:sp>
      <p:sp>
        <p:nvSpPr>
          <p:cNvPr id="5" name="Text 3"/>
          <p:cNvSpPr txBox="1"/>
          <p:nvPr/>
        </p:nvSpPr>
        <p:spPr>
          <a:xfrm>
            <a:off x="365760" y="1280160"/>
            <a:ext cx="2560320" cy="548640"/>
          </a:xfrm>
          <a:prstGeom prst="rect">
            <a:avLst/>
          </a:prstGeom>
          <a:noFill/>
          <a:ln/>
        </p:spPr>
        <p:txBody>
          <a:bodyPr wrap="square" lIns="0" tIns="0" rIns="0" bIns="0" rtlCol="0" anchor="ctr"/>
          <a:lstStyle/>
          <a:p>
            <a:pPr marL="0" indent="0" algn="ctr">
              <a:buNone/>
            </a:pPr>
            <a:r>
              <a:rPr lang="en-US" sz="2800" dirty="0">
                <a:solidFill>
                  <a:srgbClr val="000000"/>
                </a:solidFill>
                <a:latin typeface="Calibri" pitchFamily="34" charset="0"/>
                <a:ea typeface="Calibri" pitchFamily="34" charset="-122"/>
                <a:cs typeface="Calibri" pitchFamily="34" charset="-120"/>
              </a:rPr>
              <a:t>📋</a:t>
            </a:r>
            <a:endParaRPr lang="en-US" sz="2800" dirty="0"/>
          </a:p>
        </p:txBody>
      </p:sp>
      <p:sp>
        <p:nvSpPr>
          <p:cNvPr id="6" name="Text 4"/>
          <p:cNvSpPr txBox="1"/>
          <p:nvPr/>
        </p:nvSpPr>
        <p:spPr>
          <a:xfrm>
            <a:off x="411480" y="1920240"/>
            <a:ext cx="2468880" cy="457200"/>
          </a:xfrm>
          <a:prstGeom prst="rect">
            <a:avLst/>
          </a:prstGeom>
          <a:noFill/>
          <a:ln/>
        </p:spPr>
        <p:txBody>
          <a:bodyPr wrap="square" lIns="0" tIns="0" rIns="0" bIns="0" rtlCol="0" anchor="ctr"/>
          <a:lstStyle/>
          <a:p>
            <a:pPr marL="0" indent="0" algn="ctr">
              <a:buNone/>
            </a:pPr>
            <a:r>
              <a:rPr lang="en-US" sz="1500" b="1" dirty="0">
                <a:solidFill>
                  <a:srgbClr val="1A5C38"/>
                </a:solidFill>
                <a:latin typeface="Cambria" pitchFamily="34" charset="0"/>
                <a:ea typeface="Cambria" pitchFamily="34" charset="-122"/>
                <a:cs typeface="Cambria" pitchFamily="34" charset="-120"/>
              </a:rPr>
              <a:t>Proceso 100% Manual</a:t>
            </a:r>
            <a:endParaRPr lang="en-US" sz="1500" dirty="0"/>
          </a:p>
        </p:txBody>
      </p:sp>
      <p:sp>
        <p:nvSpPr>
          <p:cNvPr id="7" name="Text 5"/>
          <p:cNvSpPr txBox="1"/>
          <p:nvPr/>
        </p:nvSpPr>
        <p:spPr>
          <a:xfrm>
            <a:off x="457200" y="2468880"/>
            <a:ext cx="2377440" cy="1737360"/>
          </a:xfrm>
          <a:prstGeom prst="rect">
            <a:avLst/>
          </a:prstGeom>
          <a:noFill/>
          <a:ln/>
        </p:spPr>
        <p:txBody>
          <a:bodyPr wrap="square" lIns="0" tIns="0" rIns="0" bIns="0" rtlCol="0" anchor="ctr"/>
          <a:lstStyle/>
          <a:p>
            <a:pPr marL="0" indent="0" algn="l">
              <a:buNone/>
            </a:pPr>
            <a:r>
              <a:rPr lang="en-US" sz="1300" dirty="0">
                <a:solidFill>
                  <a:srgbClr val="1A1A1A"/>
                </a:solidFill>
                <a:latin typeface="Calibri" pitchFamily="34" charset="0"/>
                <a:ea typeface="Calibri" pitchFamily="34" charset="-122"/>
                <a:cs typeface="Calibri" pitchFamily="34" charset="-120"/>
              </a:rPr>
              <a:t>El nutricionista planificaba el menú desde Excel con sus propios criterios, sin trazabilidad ni historial estructurado.</a:t>
            </a:r>
            <a:endParaRPr lang="en-US" sz="1300" dirty="0"/>
          </a:p>
        </p:txBody>
      </p:sp>
      <p:sp>
        <p:nvSpPr>
          <p:cNvPr id="8" name="Shape 6"/>
          <p:cNvSpPr/>
          <p:nvPr/>
        </p:nvSpPr>
        <p:spPr>
          <a:xfrm>
            <a:off x="3246120" y="1143000"/>
            <a:ext cx="2651760" cy="3291840"/>
          </a:xfrm>
          <a:prstGeom prst="roundRect">
            <a:avLst>
              <a:gd name="adj" fmla="val 3448"/>
            </a:avLst>
          </a:prstGeom>
          <a:solidFill>
            <a:srgbClr val="FFFFFF"/>
          </a:solidFill>
          <a:ln w="12700">
            <a:solidFill>
              <a:srgbClr val="C8DDD4"/>
            </a:solidFill>
            <a:prstDash val="solid"/>
          </a:ln>
        </p:spPr>
      </p:sp>
      <p:sp>
        <p:nvSpPr>
          <p:cNvPr id="9" name="Text 7"/>
          <p:cNvSpPr txBox="1"/>
          <p:nvPr/>
        </p:nvSpPr>
        <p:spPr>
          <a:xfrm>
            <a:off x="3291840" y="1280160"/>
            <a:ext cx="2560320" cy="548640"/>
          </a:xfrm>
          <a:prstGeom prst="rect">
            <a:avLst/>
          </a:prstGeom>
          <a:noFill/>
          <a:ln/>
        </p:spPr>
        <p:txBody>
          <a:bodyPr wrap="square" lIns="0" tIns="0" rIns="0" bIns="0" rtlCol="0" anchor="ctr"/>
          <a:lstStyle/>
          <a:p>
            <a:pPr marL="0" indent="0" algn="ctr">
              <a:buNone/>
            </a:pPr>
            <a:r>
              <a:rPr lang="en-US" sz="2800" dirty="0">
                <a:solidFill>
                  <a:srgbClr val="000000"/>
                </a:solidFill>
                <a:latin typeface="Calibri" pitchFamily="34" charset="0"/>
                <a:ea typeface="Calibri" pitchFamily="34" charset="-122"/>
                <a:cs typeface="Calibri" pitchFamily="34" charset="-120"/>
              </a:rPr>
              <a:t>🥗</a:t>
            </a:r>
            <a:endParaRPr lang="en-US" sz="2800" dirty="0"/>
          </a:p>
        </p:txBody>
      </p:sp>
      <p:sp>
        <p:nvSpPr>
          <p:cNvPr id="10" name="Text 8"/>
          <p:cNvSpPr txBox="1"/>
          <p:nvPr/>
        </p:nvSpPr>
        <p:spPr>
          <a:xfrm>
            <a:off x="3337560" y="1920240"/>
            <a:ext cx="2468880" cy="457200"/>
          </a:xfrm>
          <a:prstGeom prst="rect">
            <a:avLst/>
          </a:prstGeom>
          <a:noFill/>
          <a:ln/>
        </p:spPr>
        <p:txBody>
          <a:bodyPr wrap="square" lIns="0" tIns="0" rIns="0" bIns="0" rtlCol="0" anchor="ctr"/>
          <a:lstStyle/>
          <a:p>
            <a:pPr marL="0" indent="0" algn="ctr">
              <a:buNone/>
            </a:pPr>
            <a:r>
              <a:rPr lang="en-US" sz="1500" b="1" dirty="0">
                <a:solidFill>
                  <a:srgbClr val="1A5C38"/>
                </a:solidFill>
                <a:latin typeface="Cambria" pitchFamily="34" charset="0"/>
                <a:ea typeface="Cambria" pitchFamily="34" charset="-122"/>
                <a:cs typeface="Cambria" pitchFamily="34" charset="-120"/>
              </a:rPr>
              <a:t>Sin Control de Balance</a:t>
            </a:r>
            <a:endParaRPr lang="en-US" sz="1500" dirty="0"/>
          </a:p>
        </p:txBody>
      </p:sp>
      <p:sp>
        <p:nvSpPr>
          <p:cNvPr id="11" name="Text 9"/>
          <p:cNvSpPr txBox="1"/>
          <p:nvPr/>
        </p:nvSpPr>
        <p:spPr>
          <a:xfrm>
            <a:off x="3383280" y="2468880"/>
            <a:ext cx="2377440" cy="1737360"/>
          </a:xfrm>
          <a:prstGeom prst="rect">
            <a:avLst/>
          </a:prstGeom>
          <a:noFill/>
          <a:ln/>
        </p:spPr>
        <p:txBody>
          <a:bodyPr wrap="square" lIns="0" tIns="0" rIns="0" bIns="0" rtlCol="0" anchor="ctr"/>
          <a:lstStyle/>
          <a:p>
            <a:pPr marL="0" indent="0" algn="l">
              <a:buNone/>
            </a:pPr>
            <a:r>
              <a:rPr lang="en-US" sz="1300" dirty="0">
                <a:solidFill>
                  <a:srgbClr val="1A1A1A"/>
                </a:solidFill>
                <a:latin typeface="Calibri" pitchFamily="34" charset="0"/>
                <a:ea typeface="Calibri" pitchFamily="34" charset="-122"/>
                <a:cs typeface="Calibri" pitchFamily="34" charset="-120"/>
              </a:rPr>
              <a:t>No había forma de validar el cumplimiento del balance verde/ámbar/rojo a lo largo del mes en todas las dimensiones.</a:t>
            </a:r>
            <a:endParaRPr lang="en-US" sz="1300" dirty="0"/>
          </a:p>
        </p:txBody>
      </p:sp>
      <p:sp>
        <p:nvSpPr>
          <p:cNvPr id="12" name="Shape 10"/>
          <p:cNvSpPr/>
          <p:nvPr/>
        </p:nvSpPr>
        <p:spPr>
          <a:xfrm>
            <a:off x="6172200" y="1143000"/>
            <a:ext cx="2651760" cy="3291840"/>
          </a:xfrm>
          <a:prstGeom prst="roundRect">
            <a:avLst>
              <a:gd name="adj" fmla="val 3448"/>
            </a:avLst>
          </a:prstGeom>
          <a:solidFill>
            <a:srgbClr val="FFFFFF"/>
          </a:solidFill>
          <a:ln w="12700">
            <a:solidFill>
              <a:srgbClr val="C8DDD4"/>
            </a:solidFill>
            <a:prstDash val="solid"/>
          </a:ln>
        </p:spPr>
      </p:sp>
      <p:sp>
        <p:nvSpPr>
          <p:cNvPr id="13" name="Text 11"/>
          <p:cNvSpPr txBox="1"/>
          <p:nvPr/>
        </p:nvSpPr>
        <p:spPr>
          <a:xfrm>
            <a:off x="6217920" y="1280160"/>
            <a:ext cx="2560320" cy="548640"/>
          </a:xfrm>
          <a:prstGeom prst="rect">
            <a:avLst/>
          </a:prstGeom>
          <a:noFill/>
          <a:ln/>
        </p:spPr>
        <p:txBody>
          <a:bodyPr wrap="square" lIns="0" tIns="0" rIns="0" bIns="0" rtlCol="0" anchor="ctr"/>
          <a:lstStyle/>
          <a:p>
            <a:pPr marL="0" indent="0" algn="ctr">
              <a:buNone/>
            </a:pPr>
            <a:r>
              <a:rPr lang="en-US" sz="2800" dirty="0">
                <a:solidFill>
                  <a:srgbClr val="000000"/>
                </a:solidFill>
                <a:latin typeface="Calibri" pitchFamily="34" charset="0"/>
                <a:ea typeface="Calibri" pitchFamily="34" charset="-122"/>
                <a:cs typeface="Calibri" pitchFamily="34" charset="-120"/>
              </a:rPr>
              <a:t>🔁</a:t>
            </a:r>
            <a:endParaRPr lang="en-US" sz="2800" dirty="0"/>
          </a:p>
        </p:txBody>
      </p:sp>
      <p:sp>
        <p:nvSpPr>
          <p:cNvPr id="14" name="Text 12"/>
          <p:cNvSpPr txBox="1"/>
          <p:nvPr/>
        </p:nvSpPr>
        <p:spPr>
          <a:xfrm>
            <a:off x="6263640" y="1920240"/>
            <a:ext cx="2468880" cy="457200"/>
          </a:xfrm>
          <a:prstGeom prst="rect">
            <a:avLst/>
          </a:prstGeom>
          <a:noFill/>
          <a:ln/>
        </p:spPr>
        <p:txBody>
          <a:bodyPr wrap="square" lIns="0" tIns="0" rIns="0" bIns="0" rtlCol="0" anchor="ctr"/>
          <a:lstStyle/>
          <a:p>
            <a:pPr marL="0" indent="0" algn="ctr">
              <a:buNone/>
            </a:pPr>
            <a:r>
              <a:rPr lang="en-US" sz="1500" b="1" dirty="0">
                <a:solidFill>
                  <a:srgbClr val="1A5C38"/>
                </a:solidFill>
                <a:latin typeface="Cambria" pitchFamily="34" charset="0"/>
                <a:ea typeface="Cambria" pitchFamily="34" charset="-122"/>
                <a:cs typeface="Cambria" pitchFamily="34" charset="-120"/>
              </a:rPr>
              <a:t>Repetición sin Límite</a:t>
            </a:r>
            <a:endParaRPr lang="en-US" sz="1500" dirty="0"/>
          </a:p>
        </p:txBody>
      </p:sp>
      <p:sp>
        <p:nvSpPr>
          <p:cNvPr id="15" name="Text 13"/>
          <p:cNvSpPr txBox="1"/>
          <p:nvPr/>
        </p:nvSpPr>
        <p:spPr>
          <a:xfrm>
            <a:off x="6309360" y="2468880"/>
            <a:ext cx="2377440" cy="1737360"/>
          </a:xfrm>
          <a:prstGeom prst="rect">
            <a:avLst/>
          </a:prstGeom>
          <a:noFill/>
          <a:ln/>
        </p:spPr>
        <p:txBody>
          <a:bodyPr wrap="square" lIns="0" tIns="0" rIns="0" bIns="0" rtlCol="0" anchor="ctr"/>
          <a:lstStyle/>
          <a:p>
            <a:pPr marL="0" indent="0" algn="l">
              <a:buNone/>
            </a:pPr>
            <a:r>
              <a:rPr lang="en-US" sz="1300" dirty="0">
                <a:solidFill>
                  <a:srgbClr val="1A1A1A"/>
                </a:solidFill>
                <a:latin typeface="Calibri" pitchFamily="34" charset="0"/>
                <a:ea typeface="Calibri" pitchFamily="34" charset="-122"/>
                <a:cs typeface="Calibri" pitchFamily="34" charset="-120"/>
              </a:rPr>
              <a:t>Los platos se repetían sin restricción y cambiar o consultar el menú pasado requería revisar el Excel manualmente.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8F5EE"/>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914400"/>
          </a:xfrm>
          <a:prstGeom prst="rect">
            <a:avLst/>
          </a:prstGeom>
          <a:solidFill>
            <a:srgbClr val="1A5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8229600" cy="685800"/>
          </a:xfrm>
          <a:prstGeom prst="rect">
            <a:avLst/>
          </a:prstGeom>
          <a:noFill/>
        </p:spPr>
        <p:txBody>
          <a:bodyPr wrap="square">
            <a:spAutoFit/>
          </a:bodyPr>
          <a:lstStyle/>
          <a:p>
            <a:pPr algn="l"/>
            <a:r>
              <a:rPr sz="2800" b="1" i="0">
                <a:solidFill>
                  <a:srgbClr val="FFFFFF"/>
                </a:solidFill>
              </a:rPr>
              <a:t>Cómo Funciona el Semáforo Nutricional</a:t>
            </a:r>
          </a:p>
        </p:txBody>
      </p:sp>
      <p:sp>
        <p:nvSpPr>
          <p:cNvPr id="4" name="TextBox 3"/>
          <p:cNvSpPr txBox="1"/>
          <p:nvPr/>
        </p:nvSpPr>
        <p:spPr>
          <a:xfrm>
            <a:off x="320040" y="1005840"/>
            <a:ext cx="8503920" cy="292608"/>
          </a:xfrm>
          <a:prstGeom prst="rect">
            <a:avLst/>
          </a:prstGeom>
          <a:noFill/>
        </p:spPr>
        <p:txBody>
          <a:bodyPr wrap="square" lIns="0" rIns="0" tIns="0" bIns="0" anchor="t">
            <a:spAutoFit/>
          </a:bodyPr>
          <a:lstStyle/>
          <a:p>
            <a:pPr algn="l"/>
            <a:r>
              <a:rPr sz="1100" b="0" i="0">
                <a:solidFill>
                  <a:srgbClr val="5A7265"/>
                </a:solidFill>
                <a:latin typeface="Calibri"/>
              </a:rPr>
              <a:t>Reglas del nutricionista (SEMÁFORO DE LA NUTRICIÓN.xlsx): se evalúa cómo está preparado el plato, no se calculan calorías exactas.</a:t>
            </a:r>
          </a:p>
        </p:txBody>
      </p:sp>
      <p:graphicFrame>
        <p:nvGraphicFramePr>
          <p:cNvPr id="5" name="Table 4"/>
          <p:cNvGraphicFramePr>
            <a:graphicFrameLocks noGrp="1"/>
          </p:cNvGraphicFramePr>
          <p:nvPr/>
        </p:nvGraphicFramePr>
        <p:xfrm>
          <a:off x="320040" y="1353312"/>
          <a:ext cx="8503920" cy="2816352"/>
        </p:xfrm>
        <a:graphic>
          <a:graphicData uri="http://schemas.openxmlformats.org/drawingml/2006/table">
            <a:tbl>
              <a:tblPr firstRow="0" bandRow="0">
                <a:tableStyleId>{5C22544A-7EE6-4342-B048-85BDC9FD1C3A}</a:tableStyleId>
              </a:tblPr>
              <a:tblGrid>
                <a:gridCol w="1371600"/>
                <a:gridCol w="2377440"/>
                <a:gridCol w="2377440"/>
                <a:gridCol w="2377440"/>
              </a:tblGrid>
              <a:tr h="402336">
                <a:tc>
                  <a:txBody>
                    <a:bodyPr wrap="square"/>
                    <a:lstStyle/>
                    <a:p>
                      <a:pPr algn="l"/>
                      <a:r>
                        <a:rPr sz="1050" b="1" i="0">
                          <a:solidFill>
                            <a:srgbClr val="FFFFFF"/>
                          </a:solidFill>
                          <a:latin typeface="Calibri"/>
                        </a:rPr>
                        <a:t>Dimensión</a:t>
                      </a:r>
                    </a:p>
                  </a:txBody>
                  <a:tcPr marL="73152" marR="73152" marT="36576" marB="36576" anchor="ctr">
                    <a:solidFill>
                      <a:srgbClr val="1A5C38"/>
                    </a:solidFill>
                  </a:tcPr>
                </a:tc>
                <a:tc>
                  <a:txBody>
                    <a:bodyPr wrap="square"/>
                    <a:lstStyle/>
                    <a:p>
                      <a:pPr algn="l"/>
                      <a:r>
                        <a:rPr sz="1050" b="1" i="0">
                          <a:solidFill>
                            <a:srgbClr val="FFFFFF"/>
                          </a:solidFill>
                          <a:latin typeface="Calibri"/>
                        </a:rPr>
                        <a:t>🟢 Verde</a:t>
                      </a:r>
                    </a:p>
                  </a:txBody>
                  <a:tcPr marL="73152" marR="73152" marT="36576" marB="36576" anchor="ctr">
                    <a:solidFill>
                      <a:srgbClr val="1A5C38"/>
                    </a:solidFill>
                  </a:tcPr>
                </a:tc>
                <a:tc>
                  <a:txBody>
                    <a:bodyPr wrap="square"/>
                    <a:lstStyle/>
                    <a:p>
                      <a:pPr algn="l"/>
                      <a:r>
                        <a:rPr sz="1050" b="1" i="0">
                          <a:solidFill>
                            <a:srgbClr val="FFFFFF"/>
                          </a:solidFill>
                          <a:latin typeface="Calibri"/>
                        </a:rPr>
                        <a:t>🟡 Ámbar</a:t>
                      </a:r>
                    </a:p>
                  </a:txBody>
                  <a:tcPr marL="73152" marR="73152" marT="36576" marB="36576" anchor="ctr">
                    <a:solidFill>
                      <a:srgbClr val="1A5C38"/>
                    </a:solidFill>
                  </a:tcPr>
                </a:tc>
                <a:tc>
                  <a:txBody>
                    <a:bodyPr wrap="square"/>
                    <a:lstStyle/>
                    <a:p>
                      <a:pPr algn="l"/>
                      <a:r>
                        <a:rPr sz="1050" b="1" i="0">
                          <a:solidFill>
                            <a:srgbClr val="FFFFFF"/>
                          </a:solidFill>
                          <a:latin typeface="Calibri"/>
                        </a:rPr>
                        <a:t>🔴 Rojo</a:t>
                      </a:r>
                    </a:p>
                  </a:txBody>
                  <a:tcPr marL="73152" marR="73152" marT="36576" marB="36576" anchor="ctr">
                    <a:solidFill>
                      <a:srgbClr val="1A5C38"/>
                    </a:solidFill>
                  </a:tcPr>
                </a:tc>
              </a:tr>
              <a:tr h="402336">
                <a:tc>
                  <a:txBody>
                    <a:bodyPr wrap="square"/>
                    <a:lstStyle/>
                    <a:p>
                      <a:pPr algn="l"/>
                      <a:r>
                        <a:rPr sz="1000" b="1" i="0">
                          <a:solidFill>
                            <a:srgbClr val="1A5C38"/>
                          </a:solidFill>
                          <a:latin typeface="Calibri"/>
                        </a:rPr>
                        <a:t>⚡ Energía</a:t>
                      </a:r>
                    </a:p>
                  </a:txBody>
                  <a:tcPr marL="73152" marR="73152" marT="36576" marB="36576" anchor="ctr">
                    <a:solidFill>
                      <a:srgbClr val="FFFFFF"/>
                    </a:solidFill>
                  </a:tcPr>
                </a:tc>
                <a:tc>
                  <a:txBody>
                    <a:bodyPr wrap="square"/>
                    <a:lstStyle/>
                    <a:p>
                      <a:pPr algn="l"/>
                      <a:r>
                        <a:rPr sz="1000" b="0" i="0">
                          <a:solidFill>
                            <a:srgbClr val="1A1A1A"/>
                          </a:solidFill>
                          <a:latin typeface="Calibri"/>
                        </a:rPr>
                        <a:t>Al menos 50 % de verduras</a:t>
                      </a:r>
                    </a:p>
                  </a:txBody>
                  <a:tcPr marL="73152" marR="73152" marT="36576" marB="36576" anchor="ctr">
                    <a:solidFill>
                      <a:srgbClr val="FFFFFF"/>
                    </a:solidFill>
                  </a:tcPr>
                </a:tc>
                <a:tc>
                  <a:txBody>
                    <a:bodyPr wrap="square"/>
                    <a:lstStyle/>
                    <a:p>
                      <a:pPr algn="l"/>
                      <a:r>
                        <a:rPr sz="1000" b="0" i="0">
                          <a:solidFill>
                            <a:srgbClr val="1A1A1A"/>
                          </a:solidFill>
                          <a:latin typeface="Calibri"/>
                        </a:rPr>
                        <a:t>Contiene tubérculo, guiso o menestra</a:t>
                      </a:r>
                    </a:p>
                  </a:txBody>
                  <a:tcPr marL="73152" marR="73152" marT="36576" marB="36576" anchor="ctr">
                    <a:solidFill>
                      <a:srgbClr val="FFFFFF"/>
                    </a:solidFill>
                  </a:tcPr>
                </a:tc>
                <a:tc>
                  <a:txBody>
                    <a:bodyPr wrap="square"/>
                    <a:lstStyle/>
                    <a:p>
                      <a:pPr algn="l"/>
                      <a:r>
                        <a:rPr sz="1000" b="0" i="0">
                          <a:solidFill>
                            <a:srgbClr val="1A1A1A"/>
                          </a:solidFill>
                          <a:latin typeface="Calibri"/>
                        </a:rPr>
                        <a:t>Fritura, apanado o plato a base de arroz o fideos</a:t>
                      </a:r>
                    </a:p>
                  </a:txBody>
                  <a:tcPr marL="73152" marR="73152" marT="36576" marB="36576" anchor="ctr">
                    <a:solidFill>
                      <a:srgbClr val="FFFFFF"/>
                    </a:solidFill>
                  </a:tcPr>
                </a:tc>
              </a:tr>
              <a:tr h="402336">
                <a:tc>
                  <a:txBody>
                    <a:bodyPr wrap="square"/>
                    <a:lstStyle/>
                    <a:p>
                      <a:pPr algn="l"/>
                      <a:r>
                        <a:rPr sz="1000" b="1" i="0">
                          <a:solidFill>
                            <a:srgbClr val="1A5C38"/>
                          </a:solidFill>
                          <a:latin typeface="Calibri"/>
                        </a:rPr>
                        <a:t>🌾 Carbohidratos</a:t>
                      </a:r>
                    </a:p>
                  </a:txBody>
                  <a:tcPr marL="73152" marR="73152" marT="36576" marB="36576" anchor="ctr">
                    <a:solidFill>
                      <a:srgbClr val="F3F9F5"/>
                    </a:solidFill>
                  </a:tcPr>
                </a:tc>
                <a:tc>
                  <a:txBody>
                    <a:bodyPr wrap="square"/>
                    <a:lstStyle/>
                    <a:p>
                      <a:pPr algn="l"/>
                      <a:r>
                        <a:rPr sz="1000" b="0" i="0">
                          <a:solidFill>
                            <a:srgbClr val="1A1A1A"/>
                          </a:solidFill>
                          <a:latin typeface="Calibri"/>
                        </a:rPr>
                        <a:t>Solo 1 carbohidrato en porción pequeña</a:t>
                      </a:r>
                    </a:p>
                  </a:txBody>
                  <a:tcPr marL="73152" marR="73152" marT="36576" marB="36576" anchor="ctr">
                    <a:solidFill>
                      <a:srgbClr val="F3F9F5"/>
                    </a:solidFill>
                  </a:tcPr>
                </a:tc>
                <a:tc>
                  <a:txBody>
                    <a:bodyPr wrap="square"/>
                    <a:lstStyle/>
                    <a:p>
                      <a:pPr algn="l"/>
                      <a:r>
                        <a:rPr sz="1000" b="0" i="0">
                          <a:solidFill>
                            <a:srgbClr val="1A1A1A"/>
                          </a:solidFill>
                          <a:latin typeface="Calibri"/>
                        </a:rPr>
                        <a:t>2 carbohidratos cocidos o guisados</a:t>
                      </a:r>
                    </a:p>
                  </a:txBody>
                  <a:tcPr marL="73152" marR="73152" marT="36576" marB="36576" anchor="ctr">
                    <a:solidFill>
                      <a:srgbClr val="F3F9F5"/>
                    </a:solidFill>
                  </a:tcPr>
                </a:tc>
                <a:tc>
                  <a:txBody>
                    <a:bodyPr wrap="square"/>
                    <a:lstStyle/>
                    <a:p>
                      <a:pPr algn="l"/>
                      <a:r>
                        <a:rPr sz="1000" b="0" i="0">
                          <a:solidFill>
                            <a:srgbClr val="1A1A1A"/>
                          </a:solidFill>
                          <a:latin typeface="Calibri"/>
                        </a:rPr>
                        <a:t>Plato a base de arroz o fideos</a:t>
                      </a:r>
                    </a:p>
                  </a:txBody>
                  <a:tcPr marL="73152" marR="73152" marT="36576" marB="36576" anchor="ctr">
                    <a:solidFill>
                      <a:srgbClr val="F3F9F5"/>
                    </a:solidFill>
                  </a:tcPr>
                </a:tc>
              </a:tr>
              <a:tr h="402336">
                <a:tc>
                  <a:txBody>
                    <a:bodyPr wrap="square"/>
                    <a:lstStyle/>
                    <a:p>
                      <a:pPr algn="l"/>
                      <a:r>
                        <a:rPr sz="1000" b="1" i="0">
                          <a:solidFill>
                            <a:srgbClr val="1A5C38"/>
                          </a:solidFill>
                          <a:latin typeface="Calibri"/>
                        </a:rPr>
                        <a:t>💪 Proteína</a:t>
                      </a:r>
                    </a:p>
                  </a:txBody>
                  <a:tcPr marL="73152" marR="73152" marT="36576" marB="36576" anchor="ctr">
                    <a:solidFill>
                      <a:srgbClr val="FFFFFF"/>
                    </a:solidFill>
                  </a:tcPr>
                </a:tc>
                <a:tc>
                  <a:txBody>
                    <a:bodyPr wrap="square"/>
                    <a:lstStyle/>
                    <a:p>
                      <a:pPr algn="l"/>
                      <a:r>
                        <a:rPr sz="1000" b="0" i="0">
                          <a:solidFill>
                            <a:srgbClr val="1A1A1A"/>
                          </a:solidFill>
                          <a:latin typeface="Calibri"/>
                        </a:rPr>
                        <a:t>Filete, presa o trozo de origen animal (~100 g)</a:t>
                      </a:r>
                    </a:p>
                  </a:txBody>
                  <a:tcPr marL="73152" marR="73152" marT="36576" marB="36576" anchor="ctr">
                    <a:solidFill>
                      <a:srgbClr val="FFFFFF"/>
                    </a:solidFill>
                  </a:tcPr>
                </a:tc>
                <a:tc>
                  <a:txBody>
                    <a:bodyPr wrap="square"/>
                    <a:lstStyle/>
                    <a:p>
                      <a:pPr algn="l"/>
                      <a:r>
                        <a:rPr sz="1000" b="0" i="0">
                          <a:solidFill>
                            <a:srgbClr val="1A1A1A"/>
                          </a:solidFill>
                          <a:latin typeface="Calibri"/>
                        </a:rPr>
                        <a:t>Origen animal en picadillo</a:t>
                      </a:r>
                    </a:p>
                  </a:txBody>
                  <a:tcPr marL="73152" marR="73152" marT="36576" marB="36576" anchor="ctr">
                    <a:solidFill>
                      <a:srgbClr val="FFFFFF"/>
                    </a:solidFill>
                  </a:tcPr>
                </a:tc>
                <a:tc>
                  <a:txBody>
                    <a:bodyPr wrap="square"/>
                    <a:lstStyle/>
                    <a:p>
                      <a:pPr algn="l"/>
                      <a:r>
                        <a:rPr sz="1000" b="0" i="0">
                          <a:solidFill>
                            <a:srgbClr val="1A1A1A"/>
                          </a:solidFill>
                          <a:latin typeface="Calibri"/>
                        </a:rPr>
                        <a:t>Sin alimento de origen animal</a:t>
                      </a:r>
                    </a:p>
                  </a:txBody>
                  <a:tcPr marL="73152" marR="73152" marT="36576" marB="36576" anchor="ctr">
                    <a:solidFill>
                      <a:srgbClr val="FFFFFF"/>
                    </a:solidFill>
                  </a:tcPr>
                </a:tc>
              </a:tr>
              <a:tr h="402336">
                <a:tc>
                  <a:txBody>
                    <a:bodyPr wrap="square"/>
                    <a:lstStyle/>
                    <a:p>
                      <a:pPr algn="l"/>
                      <a:r>
                        <a:rPr sz="1000" b="1" i="0">
                          <a:solidFill>
                            <a:srgbClr val="1A5C38"/>
                          </a:solidFill>
                          <a:latin typeface="Calibri"/>
                        </a:rPr>
                        <a:t>🫙 Grasas</a:t>
                      </a:r>
                    </a:p>
                  </a:txBody>
                  <a:tcPr marL="73152" marR="73152" marT="36576" marB="36576" anchor="ctr">
                    <a:solidFill>
                      <a:srgbClr val="F3F9F5"/>
                    </a:solidFill>
                  </a:tcPr>
                </a:tc>
                <a:tc>
                  <a:txBody>
                    <a:bodyPr wrap="square"/>
                    <a:lstStyle/>
                    <a:p>
                      <a:pPr algn="l"/>
                      <a:r>
                        <a:rPr sz="1000" b="0" i="0">
                          <a:solidFill>
                            <a:srgbClr val="1A1A1A"/>
                          </a:solidFill>
                          <a:latin typeface="Calibri"/>
                        </a:rPr>
                        <a:t>Sin frituras</a:t>
                      </a:r>
                    </a:p>
                  </a:txBody>
                  <a:tcPr marL="73152" marR="73152" marT="36576" marB="36576" anchor="ctr">
                    <a:solidFill>
                      <a:srgbClr val="F3F9F5"/>
                    </a:solidFill>
                  </a:tcPr>
                </a:tc>
                <a:tc>
                  <a:txBody>
                    <a:bodyPr wrap="square"/>
                    <a:lstStyle/>
                    <a:p>
                      <a:pPr algn="l"/>
                      <a:r>
                        <a:rPr sz="1000" b="0" i="0">
                          <a:solidFill>
                            <a:srgbClr val="1A1A1A"/>
                          </a:solidFill>
                          <a:latin typeface="Calibri"/>
                        </a:rPr>
                        <a:t>Es un salteado</a:t>
                      </a:r>
                    </a:p>
                  </a:txBody>
                  <a:tcPr marL="73152" marR="73152" marT="36576" marB="36576" anchor="ctr">
                    <a:solidFill>
                      <a:srgbClr val="F3F9F5"/>
                    </a:solidFill>
                  </a:tcPr>
                </a:tc>
                <a:tc>
                  <a:txBody>
                    <a:bodyPr wrap="square"/>
                    <a:lstStyle/>
                    <a:p>
                      <a:pPr algn="l"/>
                      <a:r>
                        <a:rPr sz="1000" b="0" i="0">
                          <a:solidFill>
                            <a:srgbClr val="1A1A1A"/>
                          </a:solidFill>
                          <a:latin typeface="Calibri"/>
                        </a:rPr>
                        <a:t>Fritura profunda o apanados</a:t>
                      </a:r>
                    </a:p>
                  </a:txBody>
                  <a:tcPr marL="73152" marR="73152" marT="36576" marB="36576" anchor="ctr">
                    <a:solidFill>
                      <a:srgbClr val="F3F9F5"/>
                    </a:solidFill>
                  </a:tcPr>
                </a:tc>
              </a:tr>
              <a:tr h="402336">
                <a:tc>
                  <a:txBody>
                    <a:bodyPr wrap="square"/>
                    <a:lstStyle/>
                    <a:p>
                      <a:pPr algn="l"/>
                      <a:r>
                        <a:rPr sz="1000" b="1" i="0">
                          <a:solidFill>
                            <a:srgbClr val="1A5C38"/>
                          </a:solidFill>
                          <a:latin typeface="Calibri"/>
                        </a:rPr>
                        <a:t>🥦 Fibra</a:t>
                      </a:r>
                    </a:p>
                  </a:txBody>
                  <a:tcPr marL="73152" marR="73152" marT="36576" marB="36576" anchor="ctr">
                    <a:solidFill>
                      <a:srgbClr val="FFFFFF"/>
                    </a:solidFill>
                  </a:tcPr>
                </a:tc>
                <a:tc>
                  <a:txBody>
                    <a:bodyPr wrap="square"/>
                    <a:lstStyle/>
                    <a:p>
                      <a:pPr algn="l"/>
                      <a:r>
                        <a:rPr sz="1000" b="0" i="0">
                          <a:solidFill>
                            <a:srgbClr val="1A1A1A"/>
                          </a:solidFill>
                          <a:latin typeface="Calibri"/>
                        </a:rPr>
                        <a:t>Al menos 1 porción de verduras o menestras</a:t>
                      </a:r>
                    </a:p>
                  </a:txBody>
                  <a:tcPr marL="73152" marR="73152" marT="36576" marB="36576" anchor="ctr">
                    <a:solidFill>
                      <a:srgbClr val="FFFFFF"/>
                    </a:solidFill>
                  </a:tcPr>
                </a:tc>
                <a:tc>
                  <a:txBody>
                    <a:bodyPr wrap="square"/>
                    <a:lstStyle/>
                    <a:p>
                      <a:pPr algn="l"/>
                      <a:r>
                        <a:rPr sz="1000" b="0" i="0">
                          <a:solidFill>
                            <a:srgbClr val="1A1A1A"/>
                          </a:solidFill>
                          <a:latin typeface="Calibri"/>
                        </a:rPr>
                        <a:t>Al menos 3 verduras diferentes</a:t>
                      </a:r>
                    </a:p>
                  </a:txBody>
                  <a:tcPr marL="73152" marR="73152" marT="36576" marB="36576" anchor="ctr">
                    <a:solidFill>
                      <a:srgbClr val="FFFFFF"/>
                    </a:solidFill>
                  </a:tcPr>
                </a:tc>
                <a:tc>
                  <a:txBody>
                    <a:bodyPr wrap="square"/>
                    <a:lstStyle/>
                    <a:p>
                      <a:pPr algn="l"/>
                      <a:r>
                        <a:rPr sz="1000" b="0" i="0">
                          <a:solidFill>
                            <a:srgbClr val="1A1A1A"/>
                          </a:solidFill>
                          <a:latin typeface="Calibri"/>
                        </a:rPr>
                        <a:t>Sin verduras</a:t>
                      </a:r>
                    </a:p>
                  </a:txBody>
                  <a:tcPr marL="73152" marR="73152" marT="36576" marB="36576" anchor="ctr">
                    <a:solidFill>
                      <a:srgbClr val="FFFFFF"/>
                    </a:solidFill>
                  </a:tcPr>
                </a:tc>
              </a:tr>
              <a:tr h="402336">
                <a:tc>
                  <a:txBody>
                    <a:bodyPr wrap="square"/>
                    <a:lstStyle/>
                    <a:p>
                      <a:pPr algn="l"/>
                      <a:r>
                        <a:rPr sz="1000" b="1" i="0">
                          <a:solidFill>
                            <a:srgbClr val="1A5C38"/>
                          </a:solidFill>
                          <a:latin typeface="Calibri"/>
                        </a:rPr>
                        <a:t>🧂 Sodio</a:t>
                      </a:r>
                    </a:p>
                  </a:txBody>
                  <a:tcPr marL="73152" marR="73152" marT="36576" marB="36576" anchor="ctr">
                    <a:solidFill>
                      <a:srgbClr val="F3F9F5"/>
                    </a:solidFill>
                  </a:tcPr>
                </a:tc>
                <a:tc>
                  <a:txBody>
                    <a:bodyPr wrap="square"/>
                    <a:lstStyle/>
                    <a:p>
                      <a:pPr algn="l"/>
                      <a:r>
                        <a:rPr sz="1000" b="0" i="0">
                          <a:solidFill>
                            <a:srgbClr val="1A1A1A"/>
                          </a:solidFill>
                          <a:latin typeface="Calibri"/>
                        </a:rPr>
                        <a:t>Sin alimentos industrializados</a:t>
                      </a:r>
                    </a:p>
                  </a:txBody>
                  <a:tcPr marL="73152" marR="73152" marT="36576" marB="36576" anchor="ctr">
                    <a:solidFill>
                      <a:srgbClr val="F3F9F5"/>
                    </a:solidFill>
                  </a:tcPr>
                </a:tc>
                <a:tc>
                  <a:txBody>
                    <a:bodyPr wrap="square"/>
                    <a:lstStyle/>
                    <a:p>
                      <a:pPr algn="l"/>
                      <a:r>
                        <a:rPr sz="1000" b="0" i="0">
                          <a:solidFill>
                            <a:srgbClr val="1A1A1A"/>
                          </a:solidFill>
                          <a:latin typeface="Calibri"/>
                        </a:rPr>
                        <a:t>1 alimento industrializado</a:t>
                      </a:r>
                    </a:p>
                  </a:txBody>
                  <a:tcPr marL="73152" marR="73152" marT="36576" marB="36576" anchor="ctr">
                    <a:solidFill>
                      <a:srgbClr val="F3F9F5"/>
                    </a:solidFill>
                  </a:tcPr>
                </a:tc>
                <a:tc>
                  <a:txBody>
                    <a:bodyPr wrap="square"/>
                    <a:lstStyle/>
                    <a:p>
                      <a:pPr algn="l"/>
                      <a:r>
                        <a:rPr sz="1000" b="0" i="0">
                          <a:solidFill>
                            <a:srgbClr val="1A1A1A"/>
                          </a:solidFill>
                          <a:latin typeface="Calibri"/>
                        </a:rPr>
                        <a:t>Sillao u otro insumo alto en sodio</a:t>
                      </a:r>
                    </a:p>
                  </a:txBody>
                  <a:tcPr marL="73152" marR="73152" marT="36576" marB="36576" anchor="ctr">
                    <a:solidFill>
                      <a:srgbClr val="F3F9F5"/>
                    </a:solidFill>
                  </a:tcPr>
                </a:tc>
              </a:tr>
            </a:tbl>
          </a:graphicData>
        </a:graphic>
      </p:graphicFrame>
      <p:sp>
        <p:nvSpPr>
          <p:cNvPr id="6" name="Rounded Rectangle 5"/>
          <p:cNvSpPr/>
          <p:nvPr/>
        </p:nvSpPr>
        <p:spPr>
          <a:xfrm>
            <a:off x="320040" y="4343400"/>
            <a:ext cx="8503920" cy="502920"/>
          </a:xfrm>
          <a:prstGeom prst="roundRect">
            <a:avLst>
              <a:gd name="adj" fmla="val 15000"/>
            </a:avLst>
          </a:prstGeom>
          <a:solidFill>
            <a:srgbClr val="FFF8E6"/>
          </a:solidFill>
          <a:ln w="12700">
            <a:solidFill>
              <a:srgbClr val="E07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4343400"/>
            <a:ext cx="8229600" cy="502920"/>
          </a:xfrm>
          <a:prstGeom prst="rect">
            <a:avLst/>
          </a:prstGeom>
          <a:noFill/>
        </p:spPr>
        <p:txBody>
          <a:bodyPr wrap="square" lIns="0" rIns="0" tIns="0" bIns="0" anchor="ctr">
            <a:spAutoFit/>
          </a:bodyPr>
          <a:lstStyle/>
          <a:p>
            <a:pPr algn="l"/>
            <a:r>
              <a:rPr sz="1050" b="1" i="0">
                <a:solidFill>
                  <a:srgbClr val="A05E00"/>
                </a:solidFill>
                <a:latin typeface="Calibri"/>
              </a:rPr>
              <a:t>Meta mensual: 60 % Verde · 30 % Ámbar · 10 % Rojo.  </a:t>
            </a:r>
            <a:r>
              <a:rPr sz="1050" b="0" i="0">
                <a:solidFill>
                  <a:srgbClr val="A05E00"/>
                </a:solidFill>
                <a:latin typeface="Calibri"/>
              </a:rPr>
              <a:t>Claude Haiku aplica estas reglas + ejemplos reales del nutricionista (few-shot); ante la duda, elige el color más restrictivo.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D2B1E"/>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E8B57"/>
          </a:solidFill>
          <a:ln/>
        </p:spPr>
      </p:sp>
      <p:sp>
        <p:nvSpPr>
          <p:cNvPr id="3" name="Text 1"/>
          <p:cNvSpPr txBox="1"/>
          <p:nvPr/>
        </p:nvSpPr>
        <p:spPr>
          <a:xfrm>
            <a:off x="365760" y="91440"/>
            <a:ext cx="8229600" cy="7315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Arquitectura de la Solución</a:t>
            </a:r>
            <a:endParaRPr lang="en-US" sz="3000" dirty="0"/>
          </a:p>
        </p:txBody>
      </p:sp>
      <p:sp>
        <p:nvSpPr>
          <p:cNvPr id="5" name="Shape 2"/>
          <p:cNvSpPr/>
          <p:nvPr/>
        </p:nvSpPr>
        <p:spPr>
          <a:xfrm>
            <a:off x="457200" y="4663440"/>
            <a:ext cx="1554480" cy="320040"/>
          </a:xfrm>
          <a:prstGeom prst="roundRect">
            <a:avLst>
              <a:gd name="adj" fmla="val 17143"/>
            </a:avLst>
          </a:prstGeom>
          <a:solidFill>
            <a:srgbClr val="2E8B57"/>
          </a:solidFill>
          <a:ln/>
        </p:spPr>
      </p:sp>
      <p:sp>
        <p:nvSpPr>
          <p:cNvPr id="6" name="Text 3"/>
          <p:cNvSpPr txBox="1"/>
          <p:nvPr/>
        </p:nvSpPr>
        <p:spPr>
          <a:xfrm>
            <a:off x="457200" y="4663440"/>
            <a:ext cx="155448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Encargado</a:t>
            </a:r>
            <a:endParaRPr lang="en-US" sz="1000" dirty="0"/>
          </a:p>
        </p:txBody>
      </p:sp>
      <p:sp>
        <p:nvSpPr>
          <p:cNvPr id="7" name="Shape 4"/>
          <p:cNvSpPr/>
          <p:nvPr/>
        </p:nvSpPr>
        <p:spPr>
          <a:xfrm>
            <a:off x="2194560" y="4663440"/>
            <a:ext cx="1554480" cy="320040"/>
          </a:xfrm>
          <a:prstGeom prst="roundRect">
            <a:avLst>
              <a:gd name="adj" fmla="val 17143"/>
            </a:avLst>
          </a:prstGeom>
          <a:solidFill>
            <a:srgbClr val="5BA4CF"/>
          </a:solidFill>
          <a:ln/>
        </p:spPr>
      </p:sp>
      <p:sp>
        <p:nvSpPr>
          <p:cNvPr id="8" name="Text 5"/>
          <p:cNvSpPr txBox="1"/>
          <p:nvPr/>
        </p:nvSpPr>
        <p:spPr>
          <a:xfrm>
            <a:off x="2194560" y="4663440"/>
            <a:ext cx="155448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AgenteNutri (LangGraph)</a:t>
            </a:r>
            <a:endParaRPr lang="en-US" sz="1000" dirty="0"/>
          </a:p>
        </p:txBody>
      </p:sp>
      <p:sp>
        <p:nvSpPr>
          <p:cNvPr id="9" name="Shape 6"/>
          <p:cNvSpPr/>
          <p:nvPr/>
        </p:nvSpPr>
        <p:spPr>
          <a:xfrm>
            <a:off x="3931920" y="4663440"/>
            <a:ext cx="1554480" cy="320040"/>
          </a:xfrm>
          <a:prstGeom prst="roundRect">
            <a:avLst>
              <a:gd name="adj" fmla="val 17143"/>
            </a:avLst>
          </a:prstGeom>
          <a:solidFill>
            <a:srgbClr val="E07B00"/>
          </a:solidFill>
          <a:ln/>
        </p:spPr>
      </p:sp>
      <p:sp>
        <p:nvSpPr>
          <p:cNvPr id="10" name="Text 7"/>
          <p:cNvSpPr txBox="1"/>
          <p:nvPr/>
        </p:nvSpPr>
        <p:spPr>
          <a:xfrm>
            <a:off x="3931920" y="4663440"/>
            <a:ext cx="155448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6 Herramientas @tool</a:t>
            </a:r>
            <a:endParaRPr lang="en-US" sz="1000" dirty="0"/>
          </a:p>
        </p:txBody>
      </p:sp>
      <p:sp>
        <p:nvSpPr>
          <p:cNvPr id="11" name="Shape 8"/>
          <p:cNvSpPr/>
          <p:nvPr/>
        </p:nvSpPr>
        <p:spPr>
          <a:xfrm>
            <a:off x="5669280" y="4663440"/>
            <a:ext cx="1554480" cy="320040"/>
          </a:xfrm>
          <a:prstGeom prst="roundRect">
            <a:avLst>
              <a:gd name="adj" fmla="val 17143"/>
            </a:avLst>
          </a:prstGeom>
          <a:solidFill>
            <a:srgbClr val="A56ABD"/>
          </a:solidFill>
          <a:ln/>
        </p:spPr>
      </p:sp>
      <p:sp>
        <p:nvSpPr>
          <p:cNvPr id="12" name="Text 9"/>
          <p:cNvSpPr txBox="1"/>
          <p:nvPr/>
        </p:nvSpPr>
        <p:spPr>
          <a:xfrm>
            <a:off x="5669280" y="4663440"/>
            <a:ext cx="155448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LlamaIndex (RAG)</a:t>
            </a:r>
            <a:endParaRPr lang="en-US" sz="1000" dirty="0"/>
          </a:p>
        </p:txBody>
      </p:sp>
      <p:sp>
        <p:nvSpPr>
          <p:cNvPr id="13" name="Shape 10"/>
          <p:cNvSpPr/>
          <p:nvPr/>
        </p:nvSpPr>
        <p:spPr>
          <a:xfrm>
            <a:off x="7406640" y="4663440"/>
            <a:ext cx="1554480" cy="320040"/>
          </a:xfrm>
          <a:prstGeom prst="roundRect">
            <a:avLst>
              <a:gd name="adj" fmla="val 17143"/>
            </a:avLst>
          </a:prstGeom>
          <a:solidFill>
            <a:srgbClr val="E07B7B"/>
          </a:solidFill>
          <a:ln/>
        </p:spPr>
      </p:sp>
      <p:sp>
        <p:nvSpPr>
          <p:cNvPr id="14" name="Text 11"/>
          <p:cNvSpPr txBox="1"/>
          <p:nvPr/>
        </p:nvSpPr>
        <p:spPr>
          <a:xfrm>
            <a:off x="7406640" y="4663440"/>
            <a:ext cx="155448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Azure SQL</a:t>
            </a:r>
            <a:endParaRPr lang="en-US" sz="1000" dirty="0"/>
          </a:p>
        </p:txBody>
      </p:sp>
      <p:pic>
        <p:nvPicPr>
          <p:cNvPr id="16" name="Imagen 15">
            <a:extLst>
              <a:ext uri="{FF2B5EF4-FFF2-40B4-BE49-F238E27FC236}">
                <a16:creationId xmlns:a16="http://schemas.microsoft.com/office/drawing/2014/main" id="{659B9749-2D66-E25A-3943-08D4E67D9D0F}"/>
              </a:ext>
            </a:extLst>
          </p:cNvPr>
          <p:cNvPicPr>
            <a:picLocks noChangeAspect="1"/>
          </p:cNvPicPr>
          <p:nvPr/>
        </p:nvPicPr>
        <p:blipFill>
          <a:blip r:embed="rId3"/>
          <a:stretch>
            <a:fillRect/>
          </a:stretch>
        </p:blipFill>
        <p:spPr>
          <a:xfrm>
            <a:off x="2429" y="0"/>
            <a:ext cx="9139141" cy="5143500"/>
          </a:xfrm>
          <a:prstGeom prst="rect">
            <a:avLst/>
          </a:prstGeom>
        </p:spPr>
      </p:pic>
      <p:sp>
        <p:nvSpPr>
          <p:cNvPr id="17" name="Rounded Rectangle 16"/>
          <p:cNvSpPr/>
          <p:nvPr/>
        </p:nvSpPr>
        <p:spPr>
          <a:xfrm>
            <a:off x="2078181" y="1138428"/>
            <a:ext cx="1039090" cy="192024"/>
          </a:xfrm>
          <a:prstGeom prst="roundRect">
            <a:avLst>
              <a:gd name="adj" fmla="val 50000"/>
            </a:avLst>
          </a:prstGeom>
          <a:solidFill>
            <a:srgbClr val="E04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78181" y="1138428"/>
            <a:ext cx="1039090" cy="192024"/>
          </a:xfrm>
          <a:prstGeom prst="rect">
            <a:avLst/>
          </a:prstGeom>
          <a:noFill/>
        </p:spPr>
        <p:txBody>
          <a:bodyPr wrap="square" lIns="0" rIns="0" tIns="0" bIns="0" anchor="ctr">
            <a:spAutoFit/>
          </a:bodyPr>
          <a:lstStyle/>
          <a:p>
            <a:pPr algn="ctr"/>
            <a:r>
              <a:rPr sz="1000" b="1" i="0">
                <a:solidFill>
                  <a:srgbClr val="FFFFFF"/>
                </a:solidFill>
                <a:latin typeface="Calibri"/>
              </a:rPr>
              <a:t>FRONTEND</a:t>
            </a:r>
          </a:p>
        </p:txBody>
      </p:sp>
      <p:sp>
        <p:nvSpPr>
          <p:cNvPr id="19" name="Rounded Rectangle 18"/>
          <p:cNvSpPr/>
          <p:nvPr/>
        </p:nvSpPr>
        <p:spPr>
          <a:xfrm>
            <a:off x="4593875" y="1019556"/>
            <a:ext cx="984401" cy="192024"/>
          </a:xfrm>
          <a:prstGeom prst="roundRect">
            <a:avLst>
              <a:gd name="adj" fmla="val 50000"/>
            </a:avLst>
          </a:prstGeom>
          <a:solidFill>
            <a:srgbClr val="A56A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93875" y="1019556"/>
            <a:ext cx="984401" cy="192024"/>
          </a:xfrm>
          <a:prstGeom prst="rect">
            <a:avLst/>
          </a:prstGeom>
          <a:noFill/>
        </p:spPr>
        <p:txBody>
          <a:bodyPr wrap="square" lIns="0" rIns="0" tIns="0" bIns="0" anchor="ctr">
            <a:spAutoFit/>
          </a:bodyPr>
          <a:lstStyle/>
          <a:p>
            <a:pPr algn="ctr"/>
            <a:r>
              <a:rPr sz="1000" b="1" i="0">
                <a:solidFill>
                  <a:srgbClr val="FFFFFF"/>
                </a:solidFill>
                <a:latin typeface="Calibri"/>
              </a:rPr>
              <a:t>BACKEND</a:t>
            </a:r>
          </a:p>
        </p:txBody>
      </p:sp>
      <p:sp>
        <p:nvSpPr>
          <p:cNvPr id="21" name="Oval 20"/>
          <p:cNvSpPr/>
          <p:nvPr/>
        </p:nvSpPr>
        <p:spPr>
          <a:xfrm>
            <a:off x="1172685" y="2118804"/>
            <a:ext cx="246888" cy="246888"/>
          </a:xfrm>
          <a:prstGeom prst="ellipse">
            <a:avLst/>
          </a:prstGeom>
          <a:solidFill>
            <a:srgbClr val="FFD6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72685" y="2118804"/>
            <a:ext cx="246888" cy="246888"/>
          </a:xfrm>
          <a:prstGeom prst="rect">
            <a:avLst/>
          </a:prstGeom>
          <a:noFill/>
        </p:spPr>
        <p:txBody>
          <a:bodyPr wrap="square" lIns="0" rIns="0" tIns="0" bIns="0" anchor="ctr">
            <a:spAutoFit/>
          </a:bodyPr>
          <a:lstStyle/>
          <a:p>
            <a:pPr algn="ctr"/>
            <a:r>
              <a:rPr sz="1000" b="1" i="0">
                <a:solidFill>
                  <a:srgbClr val="0D2B1E"/>
                </a:solidFill>
                <a:latin typeface="Calibri"/>
              </a:rPr>
              <a:t>1</a:t>
            </a:r>
          </a:p>
        </p:txBody>
      </p:sp>
      <p:sp>
        <p:nvSpPr>
          <p:cNvPr id="23" name="Oval 22"/>
          <p:cNvSpPr/>
          <p:nvPr/>
        </p:nvSpPr>
        <p:spPr>
          <a:xfrm>
            <a:off x="3239929" y="2118804"/>
            <a:ext cx="246888" cy="246888"/>
          </a:xfrm>
          <a:prstGeom prst="ellipse">
            <a:avLst/>
          </a:prstGeom>
          <a:solidFill>
            <a:srgbClr val="FFD6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39929" y="2118804"/>
            <a:ext cx="246888" cy="246888"/>
          </a:xfrm>
          <a:prstGeom prst="rect">
            <a:avLst/>
          </a:prstGeom>
          <a:noFill/>
        </p:spPr>
        <p:txBody>
          <a:bodyPr wrap="square" lIns="0" rIns="0" tIns="0" bIns="0" anchor="ctr">
            <a:spAutoFit/>
          </a:bodyPr>
          <a:lstStyle/>
          <a:p>
            <a:pPr algn="ctr"/>
            <a:r>
              <a:rPr sz="1000" b="1" i="0">
                <a:solidFill>
                  <a:srgbClr val="0D2B1E"/>
                </a:solidFill>
                <a:latin typeface="Calibri"/>
              </a:rPr>
              <a:t>2</a:t>
            </a:r>
          </a:p>
        </p:txBody>
      </p:sp>
      <p:sp>
        <p:nvSpPr>
          <p:cNvPr id="25" name="Oval 24"/>
          <p:cNvSpPr/>
          <p:nvPr/>
        </p:nvSpPr>
        <p:spPr>
          <a:xfrm>
            <a:off x="3825101" y="1856297"/>
            <a:ext cx="246888" cy="246888"/>
          </a:xfrm>
          <a:prstGeom prst="ellipse">
            <a:avLst/>
          </a:prstGeom>
          <a:solidFill>
            <a:srgbClr val="FFD6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25101" y="1856297"/>
            <a:ext cx="246888" cy="246888"/>
          </a:xfrm>
          <a:prstGeom prst="rect">
            <a:avLst/>
          </a:prstGeom>
          <a:noFill/>
        </p:spPr>
        <p:txBody>
          <a:bodyPr wrap="square" lIns="0" rIns="0" tIns="0" bIns="0" anchor="ctr">
            <a:spAutoFit/>
          </a:bodyPr>
          <a:lstStyle/>
          <a:p>
            <a:pPr algn="ctr"/>
            <a:r>
              <a:rPr sz="1000" b="1" i="0">
                <a:solidFill>
                  <a:srgbClr val="0D2B1E"/>
                </a:solidFill>
                <a:latin typeface="Calibri"/>
              </a:rPr>
              <a:t>3</a:t>
            </a:r>
          </a:p>
        </p:txBody>
      </p:sp>
      <p:sp>
        <p:nvSpPr>
          <p:cNvPr id="27" name="Oval 26"/>
          <p:cNvSpPr/>
          <p:nvPr/>
        </p:nvSpPr>
        <p:spPr>
          <a:xfrm>
            <a:off x="5684527" y="1473474"/>
            <a:ext cx="246888" cy="246888"/>
          </a:xfrm>
          <a:prstGeom prst="ellipse">
            <a:avLst/>
          </a:prstGeom>
          <a:solidFill>
            <a:srgbClr val="FFD6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84527" y="1473474"/>
            <a:ext cx="246888" cy="246888"/>
          </a:xfrm>
          <a:prstGeom prst="rect">
            <a:avLst/>
          </a:prstGeom>
          <a:noFill/>
        </p:spPr>
        <p:txBody>
          <a:bodyPr wrap="square" lIns="0" rIns="0" tIns="0" bIns="0" anchor="ctr">
            <a:spAutoFit/>
          </a:bodyPr>
          <a:lstStyle/>
          <a:p>
            <a:pPr algn="ctr"/>
            <a:r>
              <a:rPr sz="1000" b="1" i="0">
                <a:solidFill>
                  <a:srgbClr val="0D2B1E"/>
                </a:solidFill>
                <a:latin typeface="Calibri"/>
              </a:rPr>
              <a:t>4</a:t>
            </a:r>
          </a:p>
        </p:txBody>
      </p:sp>
      <p:sp>
        <p:nvSpPr>
          <p:cNvPr id="29" name="Oval 28"/>
          <p:cNvSpPr/>
          <p:nvPr/>
        </p:nvSpPr>
        <p:spPr>
          <a:xfrm>
            <a:off x="5957972" y="1189091"/>
            <a:ext cx="246888" cy="246888"/>
          </a:xfrm>
          <a:prstGeom prst="ellipse">
            <a:avLst/>
          </a:prstGeom>
          <a:solidFill>
            <a:srgbClr val="FFD6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57972" y="1189091"/>
            <a:ext cx="246888" cy="246888"/>
          </a:xfrm>
          <a:prstGeom prst="rect">
            <a:avLst/>
          </a:prstGeom>
          <a:noFill/>
        </p:spPr>
        <p:txBody>
          <a:bodyPr wrap="square" lIns="0" rIns="0" tIns="0" bIns="0" anchor="ctr">
            <a:spAutoFit/>
          </a:bodyPr>
          <a:lstStyle/>
          <a:p>
            <a:pPr algn="ctr"/>
            <a:r>
              <a:rPr sz="1000" b="1" i="0">
                <a:solidFill>
                  <a:srgbClr val="0D2B1E"/>
                </a:solidFill>
                <a:latin typeface="Calibri"/>
              </a:rPr>
              <a:t>5</a:t>
            </a:r>
          </a:p>
        </p:txBody>
      </p:sp>
      <p:sp>
        <p:nvSpPr>
          <p:cNvPr id="31" name="Oval 30"/>
          <p:cNvSpPr/>
          <p:nvPr/>
        </p:nvSpPr>
        <p:spPr>
          <a:xfrm>
            <a:off x="1172685" y="2786010"/>
            <a:ext cx="246888" cy="246888"/>
          </a:xfrm>
          <a:prstGeom prst="ellipse">
            <a:avLst/>
          </a:prstGeom>
          <a:solidFill>
            <a:srgbClr val="FFD6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72685" y="2786010"/>
            <a:ext cx="246888" cy="246888"/>
          </a:xfrm>
          <a:prstGeom prst="rect">
            <a:avLst/>
          </a:prstGeom>
          <a:noFill/>
        </p:spPr>
        <p:txBody>
          <a:bodyPr wrap="square" lIns="0" rIns="0" tIns="0" bIns="0" anchor="ctr">
            <a:spAutoFit/>
          </a:bodyPr>
          <a:lstStyle/>
          <a:p>
            <a:pPr algn="ctr"/>
            <a:r>
              <a:rPr sz="1000" b="1" i="0">
                <a:solidFill>
                  <a:srgbClr val="0D2B1E"/>
                </a:solidFill>
                <a:latin typeface="Calibri"/>
              </a:rPr>
              <a:t>6</a:t>
            </a:r>
          </a:p>
        </p:txBody>
      </p:sp>
      <p:sp>
        <p:nvSpPr>
          <p:cNvPr id="33" name="Rounded Rectangle 32"/>
          <p:cNvSpPr/>
          <p:nvPr/>
        </p:nvSpPr>
        <p:spPr>
          <a:xfrm>
            <a:off x="109377" y="4582937"/>
            <a:ext cx="8914306" cy="459387"/>
          </a:xfrm>
          <a:prstGeom prst="roundRect">
            <a:avLst>
              <a:gd name="adj" fmla="val 15000"/>
            </a:avLst>
          </a:prstGeom>
          <a:solidFill>
            <a:srgbClr val="0B1F2A"/>
          </a:solidFill>
          <a:ln w="12700">
            <a:solidFill>
              <a:srgbClr val="3A5A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18755" y="4621220"/>
            <a:ext cx="8695550" cy="382822"/>
          </a:xfrm>
          <a:prstGeom prst="rect">
            <a:avLst/>
          </a:prstGeom>
          <a:noFill/>
        </p:spPr>
        <p:txBody>
          <a:bodyPr wrap="square" lIns="0" rIns="0" tIns="0" bIns="0" anchor="ctr">
            <a:spAutoFit/>
          </a:bodyPr>
          <a:lstStyle/>
          <a:p>
            <a:pPr algn="l">
              <a:spcAft>
                <a:spcPts val="100"/>
              </a:spcAft>
            </a:pPr>
            <a:r>
              <a:rPr sz="950" b="1" i="0">
                <a:solidFill>
                  <a:srgbClr val="0D2B1E"/>
                </a:solidFill>
                <a:highlight>
                  <a:srgbClr val="FFD60A"/>
                </a:highlight>
                <a:latin typeface="Calibri"/>
              </a:rPr>
              <a:t> 1 </a:t>
            </a:r>
            <a:r>
              <a:rPr sz="950" b="0" i="0">
                <a:solidFill>
                  <a:srgbClr val="FFFFFF"/>
                </a:solidFill>
                <a:latin typeface="Calibri"/>
              </a:rPr>
              <a:t>  El usuario escribe en la web     </a:t>
            </a:r>
            <a:r>
              <a:rPr sz="950" b="1" i="0">
                <a:solidFill>
                  <a:srgbClr val="0D2B1E"/>
                </a:solidFill>
                <a:highlight>
                  <a:srgbClr val="FFD60A"/>
                </a:highlight>
                <a:latin typeface="Calibri"/>
              </a:rPr>
              <a:t> 2 </a:t>
            </a:r>
            <a:r>
              <a:rPr sz="950" b="0" i="0">
                <a:solidFill>
                  <a:srgbClr val="FFFFFF"/>
                </a:solidFill>
                <a:latin typeface="Calibri"/>
              </a:rPr>
              <a:t>  Frontend: el agente (Claude Haiku) entiende y elige una herramienta     </a:t>
            </a:r>
            <a:r>
              <a:rPr sz="950" b="1" i="0">
                <a:solidFill>
                  <a:srgbClr val="0D2B1E"/>
                </a:solidFill>
                <a:highlight>
                  <a:srgbClr val="FFD60A"/>
                </a:highlight>
                <a:latin typeface="Calibri"/>
              </a:rPr>
              <a:t> 3 </a:t>
            </a:r>
            <a:r>
              <a:rPr sz="950" b="0" i="0">
                <a:solidFill>
                  <a:srgbClr val="FFFFFF"/>
                </a:solidFill>
                <a:latin typeface="Calibri"/>
              </a:rPr>
              <a:t>  Se la pide al backend por MCP     </a:t>
            </a:r>
          </a:p>
          <a:p>
            <a:pPr algn="l">
              <a:spcAft>
                <a:spcPts val="100"/>
              </a:spcAft>
            </a:pPr>
            <a:r>
              <a:rPr sz="950" b="1" i="0">
                <a:solidFill>
                  <a:srgbClr val="0D2B1E"/>
                </a:solidFill>
                <a:highlight>
                  <a:srgbClr val="FFD60A"/>
                </a:highlight>
                <a:latin typeface="Calibri"/>
              </a:rPr>
              <a:t> 4 </a:t>
            </a:r>
            <a:r>
              <a:rPr sz="950" b="0" i="0">
                <a:solidFill>
                  <a:srgbClr val="FFFFFF"/>
                </a:solidFill>
                <a:latin typeface="Calibri"/>
              </a:rPr>
              <a:t>  El backend ejecuta la herramienta     </a:t>
            </a:r>
            <a:r>
              <a:rPr sz="950" b="1" i="0">
                <a:solidFill>
                  <a:srgbClr val="0D2B1E"/>
                </a:solidFill>
                <a:highlight>
                  <a:srgbClr val="FFD60A"/>
                </a:highlight>
                <a:latin typeface="Calibri"/>
              </a:rPr>
              <a:t> 5 </a:t>
            </a:r>
            <a:r>
              <a:rPr sz="950" b="0" i="0">
                <a:solidFill>
                  <a:srgbClr val="FFFFFF"/>
                </a:solidFill>
                <a:latin typeface="Calibri"/>
              </a:rPr>
              <a:t>  Usa LlamaIndex + Cohere, Claude Haiku o Azure SQL     </a:t>
            </a:r>
            <a:r>
              <a:rPr sz="950" b="1" i="0">
                <a:solidFill>
                  <a:srgbClr val="0D2B1E"/>
                </a:solidFill>
                <a:highlight>
                  <a:srgbClr val="FFD60A"/>
                </a:highlight>
                <a:latin typeface="Calibri"/>
              </a:rPr>
              <a:t> 6 </a:t>
            </a:r>
            <a:r>
              <a:rPr sz="950" b="0" i="0">
                <a:solidFill>
                  <a:srgbClr val="FFFFFF"/>
                </a:solidFill>
                <a:latin typeface="Calibri"/>
              </a:rPr>
              <a:t>  La respuesta vuelve al usuario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E8F5EE"/>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5C38"/>
          </a:solidFill>
          <a:ln/>
        </p:spPr>
      </p:sp>
      <p:sp>
        <p:nvSpPr>
          <p:cNvPr id="3" name="Text 1"/>
          <p:cNvSpPr txBox="1"/>
          <p:nvPr/>
        </p:nvSpPr>
        <p:spPr>
          <a:xfrm>
            <a:off x="365760" y="91440"/>
            <a:ext cx="8229600" cy="7315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Las 6 Herramientas del Agente</a:t>
            </a:r>
            <a:endParaRPr lang="en-US" sz="3000" dirty="0"/>
          </a:p>
        </p:txBody>
      </p:sp>
      <p:sp>
        <p:nvSpPr>
          <p:cNvPr id="4" name="TextBox 3"/>
          <p:cNvSpPr txBox="1"/>
          <p:nvPr/>
        </p:nvSpPr>
        <p:spPr>
          <a:xfrm>
            <a:off x="320040" y="987552"/>
            <a:ext cx="4206240" cy="329184"/>
          </a:xfrm>
          <a:prstGeom prst="rect">
            <a:avLst/>
          </a:prstGeom>
          <a:noFill/>
        </p:spPr>
        <p:txBody>
          <a:bodyPr wrap="square" lIns="0" rIns="0" tIns="0" bIns="0" anchor="ctr">
            <a:spAutoFit/>
          </a:bodyPr>
          <a:lstStyle/>
          <a:p>
            <a:pPr algn="l"/>
            <a:r>
              <a:rPr sz="1150" b="0" i="0">
                <a:solidFill>
                  <a:srgbClr val="5A7265"/>
                </a:solidFill>
                <a:latin typeface="Calibri"/>
              </a:rPr>
              <a:t>El agente elige la herramienta. Cada una usa en el backend:</a:t>
            </a:r>
          </a:p>
        </p:txBody>
      </p:sp>
      <p:sp>
        <p:nvSpPr>
          <p:cNvPr id="5" name="Rounded Rectangle 4"/>
          <p:cNvSpPr/>
          <p:nvPr/>
        </p:nvSpPr>
        <p:spPr>
          <a:xfrm>
            <a:off x="4617720" y="1024128"/>
            <a:ext cx="973836" cy="246888"/>
          </a:xfrm>
          <a:prstGeom prst="roundRect">
            <a:avLst>
              <a:gd name="adj" fmla="val 50000"/>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17720" y="1024128"/>
            <a:ext cx="973836" cy="246888"/>
          </a:xfrm>
          <a:prstGeom prst="rect">
            <a:avLst/>
          </a:prstGeom>
          <a:noFill/>
        </p:spPr>
        <p:txBody>
          <a:bodyPr wrap="square" lIns="0" rIns="0" tIns="0" bIns="0" anchor="ctr">
            <a:spAutoFit/>
          </a:bodyPr>
          <a:lstStyle/>
          <a:p>
            <a:pPr algn="ctr"/>
            <a:r>
              <a:rPr sz="850" b="1" i="0">
                <a:solidFill>
                  <a:srgbClr val="FFFFFF"/>
                </a:solidFill>
                <a:latin typeface="Calibri"/>
              </a:rPr>
              <a:t>LlamaIndex+Cohere</a:t>
            </a:r>
          </a:p>
        </p:txBody>
      </p:sp>
      <p:sp>
        <p:nvSpPr>
          <p:cNvPr id="7" name="Rounded Rectangle 6"/>
          <p:cNvSpPr/>
          <p:nvPr/>
        </p:nvSpPr>
        <p:spPr>
          <a:xfrm>
            <a:off x="5646420" y="1024128"/>
            <a:ext cx="722376" cy="246888"/>
          </a:xfrm>
          <a:prstGeom prst="roundRect">
            <a:avLst>
              <a:gd name="adj" fmla="val 50000"/>
            </a:avLst>
          </a:prstGeom>
          <a:solidFill>
            <a:srgbClr val="A56A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46420" y="1024128"/>
            <a:ext cx="722376" cy="246888"/>
          </a:xfrm>
          <a:prstGeom prst="rect">
            <a:avLst/>
          </a:prstGeom>
          <a:noFill/>
        </p:spPr>
        <p:txBody>
          <a:bodyPr wrap="square" lIns="0" rIns="0" tIns="0" bIns="0" anchor="ctr">
            <a:spAutoFit/>
          </a:bodyPr>
          <a:lstStyle/>
          <a:p>
            <a:pPr algn="ctr"/>
            <a:r>
              <a:rPr sz="850" b="1" i="0">
                <a:solidFill>
                  <a:srgbClr val="FFFFFF"/>
                </a:solidFill>
                <a:latin typeface="Calibri"/>
              </a:rPr>
              <a:t>Claude Haiku</a:t>
            </a:r>
          </a:p>
        </p:txBody>
      </p:sp>
      <p:sp>
        <p:nvSpPr>
          <p:cNvPr id="9" name="Rounded Rectangle 8"/>
          <p:cNvSpPr/>
          <p:nvPr/>
        </p:nvSpPr>
        <p:spPr>
          <a:xfrm>
            <a:off x="6423660" y="1024128"/>
            <a:ext cx="571500" cy="246888"/>
          </a:xfrm>
          <a:prstGeom prst="roundRect">
            <a:avLst>
              <a:gd name="adj" fmla="val 50000"/>
            </a:avLst>
          </a:prstGeom>
          <a:solidFill>
            <a:srgbClr val="5BA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23660" y="1024128"/>
            <a:ext cx="571500" cy="246888"/>
          </a:xfrm>
          <a:prstGeom prst="rect">
            <a:avLst/>
          </a:prstGeom>
          <a:noFill/>
        </p:spPr>
        <p:txBody>
          <a:bodyPr wrap="square" lIns="0" rIns="0" tIns="0" bIns="0" anchor="ctr">
            <a:spAutoFit/>
          </a:bodyPr>
          <a:lstStyle/>
          <a:p>
            <a:pPr algn="ctr"/>
            <a:r>
              <a:rPr sz="850" b="1" i="0">
                <a:solidFill>
                  <a:srgbClr val="FFFFFF"/>
                </a:solidFill>
                <a:latin typeface="Calibri"/>
              </a:rPr>
              <a:t>Azure SQL</a:t>
            </a:r>
          </a:p>
        </p:txBody>
      </p:sp>
      <p:sp>
        <p:nvSpPr>
          <p:cNvPr id="11" name="Rounded Rectangle 10"/>
          <p:cNvSpPr/>
          <p:nvPr/>
        </p:nvSpPr>
        <p:spPr>
          <a:xfrm>
            <a:off x="320040" y="1463040"/>
            <a:ext cx="2697480" cy="1627632"/>
          </a:xfrm>
          <a:prstGeom prst="roundRect">
            <a:avLst>
              <a:gd name="adj" fmla="val 5000"/>
            </a:avLst>
          </a:prstGeom>
          <a:solidFill>
            <a:srgbClr val="FFFFFF"/>
          </a:solidFill>
          <a:ln w="12700">
            <a:solidFill>
              <a:srgbClr val="C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651760" y="1554480"/>
            <a:ext cx="274320" cy="274320"/>
          </a:xfrm>
          <a:prstGeom prst="ellipse">
            <a:avLst/>
          </a:prstGeom>
          <a:solidFill>
            <a:srgbClr val="1A5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51760" y="1554480"/>
            <a:ext cx="274320" cy="274320"/>
          </a:xfrm>
          <a:prstGeom prst="rect">
            <a:avLst/>
          </a:prstGeom>
          <a:noFill/>
        </p:spPr>
        <p:txBody>
          <a:bodyPr wrap="square" lIns="0" rIns="0" tIns="0" bIns="0" anchor="ctr">
            <a:spAutoFit/>
          </a:bodyPr>
          <a:lstStyle/>
          <a:p>
            <a:pPr algn="ctr"/>
            <a:r>
              <a:rPr sz="1000" b="1" i="0">
                <a:solidFill>
                  <a:srgbClr val="FFFFFF"/>
                </a:solidFill>
                <a:latin typeface="Calibri"/>
              </a:rPr>
              <a:t>1</a:t>
            </a:r>
          </a:p>
        </p:txBody>
      </p:sp>
      <p:sp>
        <p:nvSpPr>
          <p:cNvPr id="14" name="TextBox 13"/>
          <p:cNvSpPr txBox="1"/>
          <p:nvPr/>
        </p:nvSpPr>
        <p:spPr>
          <a:xfrm>
            <a:off x="448056" y="1554480"/>
            <a:ext cx="2148840" cy="292608"/>
          </a:xfrm>
          <a:prstGeom prst="rect">
            <a:avLst/>
          </a:prstGeom>
          <a:noFill/>
        </p:spPr>
        <p:txBody>
          <a:bodyPr wrap="square" lIns="0" rIns="0" tIns="0" bIns="0" anchor="ctr">
            <a:spAutoFit/>
          </a:bodyPr>
          <a:lstStyle/>
          <a:p>
            <a:pPr algn="l"/>
            <a:r>
              <a:rPr sz="1200" b="0" i="0">
                <a:solidFill>
                  <a:srgbClr val="1A1A1A"/>
                </a:solidFill>
                <a:latin typeface="Calibri"/>
              </a:rPr>
              <a:t>🔍  </a:t>
            </a:r>
            <a:r>
              <a:rPr sz="1200" b="1" i="0">
                <a:solidFill>
                  <a:srgbClr val="1A5C38"/>
                </a:solidFill>
                <a:latin typeface="Calibri"/>
              </a:rPr>
              <a:t>buscar_platos</a:t>
            </a:r>
          </a:p>
        </p:txBody>
      </p:sp>
      <p:sp>
        <p:nvSpPr>
          <p:cNvPr id="15" name="TextBox 14"/>
          <p:cNvSpPr txBox="1"/>
          <p:nvPr/>
        </p:nvSpPr>
        <p:spPr>
          <a:xfrm>
            <a:off x="448056" y="1920240"/>
            <a:ext cx="2441448" cy="777240"/>
          </a:xfrm>
          <a:prstGeom prst="rect">
            <a:avLst/>
          </a:prstGeom>
          <a:noFill/>
        </p:spPr>
        <p:txBody>
          <a:bodyPr wrap="square" lIns="0" rIns="0" tIns="0" bIns="0" anchor="t">
            <a:spAutoFit/>
          </a:bodyPr>
          <a:lstStyle/>
          <a:p>
            <a:pPr algn="l"/>
            <a:r>
              <a:rPr sz="1050" b="0" i="0">
                <a:solidFill>
                  <a:srgbClr val="1A1A1A"/>
                </a:solidFill>
                <a:latin typeface="Calibri"/>
              </a:rPr>
              <a:t>Busca platos por significado, aunque se escriban con errores. Marca los que son casi idénticos.</a:t>
            </a:r>
          </a:p>
        </p:txBody>
      </p:sp>
      <p:sp>
        <p:nvSpPr>
          <p:cNvPr id="16" name="Rounded Rectangle 15"/>
          <p:cNvSpPr/>
          <p:nvPr/>
        </p:nvSpPr>
        <p:spPr>
          <a:xfrm>
            <a:off x="448056" y="2724912"/>
            <a:ext cx="973836" cy="246888"/>
          </a:xfrm>
          <a:prstGeom prst="roundRect">
            <a:avLst>
              <a:gd name="adj" fmla="val 50000"/>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056" y="2724912"/>
            <a:ext cx="973836" cy="246888"/>
          </a:xfrm>
          <a:prstGeom prst="rect">
            <a:avLst/>
          </a:prstGeom>
          <a:noFill/>
        </p:spPr>
        <p:txBody>
          <a:bodyPr wrap="square" lIns="0" rIns="0" tIns="0" bIns="0" anchor="ctr">
            <a:spAutoFit/>
          </a:bodyPr>
          <a:lstStyle/>
          <a:p>
            <a:pPr algn="ctr"/>
            <a:r>
              <a:rPr sz="850" b="1" i="0">
                <a:solidFill>
                  <a:srgbClr val="FFFFFF"/>
                </a:solidFill>
                <a:latin typeface="Calibri"/>
              </a:rPr>
              <a:t>LlamaIndex+Cohere</a:t>
            </a:r>
          </a:p>
        </p:txBody>
      </p:sp>
      <p:sp>
        <p:nvSpPr>
          <p:cNvPr id="18" name="Rounded Rectangle 17"/>
          <p:cNvSpPr/>
          <p:nvPr/>
        </p:nvSpPr>
        <p:spPr>
          <a:xfrm>
            <a:off x="3246120" y="1463040"/>
            <a:ext cx="2697480" cy="1627632"/>
          </a:xfrm>
          <a:prstGeom prst="roundRect">
            <a:avLst>
              <a:gd name="adj" fmla="val 5000"/>
            </a:avLst>
          </a:prstGeom>
          <a:solidFill>
            <a:srgbClr val="FFFFFF"/>
          </a:solidFill>
          <a:ln w="12700">
            <a:solidFill>
              <a:srgbClr val="C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577840" y="1554480"/>
            <a:ext cx="274320" cy="274320"/>
          </a:xfrm>
          <a:prstGeom prst="ellipse">
            <a:avLst/>
          </a:prstGeom>
          <a:solidFill>
            <a:srgbClr val="1A5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577840" y="1554480"/>
            <a:ext cx="274320" cy="274320"/>
          </a:xfrm>
          <a:prstGeom prst="rect">
            <a:avLst/>
          </a:prstGeom>
          <a:noFill/>
        </p:spPr>
        <p:txBody>
          <a:bodyPr wrap="square" lIns="0" rIns="0" tIns="0" bIns="0" anchor="ctr">
            <a:spAutoFit/>
          </a:bodyPr>
          <a:lstStyle/>
          <a:p>
            <a:pPr algn="ctr"/>
            <a:r>
              <a:rPr sz="1000" b="1" i="0">
                <a:solidFill>
                  <a:srgbClr val="FFFFFF"/>
                </a:solidFill>
                <a:latin typeface="Calibri"/>
              </a:rPr>
              <a:t>2</a:t>
            </a:r>
          </a:p>
        </p:txBody>
      </p:sp>
      <p:sp>
        <p:nvSpPr>
          <p:cNvPr id="21" name="TextBox 20"/>
          <p:cNvSpPr txBox="1"/>
          <p:nvPr/>
        </p:nvSpPr>
        <p:spPr>
          <a:xfrm>
            <a:off x="3374136" y="1554480"/>
            <a:ext cx="2148840" cy="292608"/>
          </a:xfrm>
          <a:prstGeom prst="rect">
            <a:avLst/>
          </a:prstGeom>
          <a:noFill/>
        </p:spPr>
        <p:txBody>
          <a:bodyPr wrap="square" lIns="0" rIns="0" tIns="0" bIns="0" anchor="ctr">
            <a:spAutoFit/>
          </a:bodyPr>
          <a:lstStyle/>
          <a:p>
            <a:pPr algn="l"/>
            <a:r>
              <a:rPr sz="1200" b="0" i="0">
                <a:solidFill>
                  <a:srgbClr val="1A1A1A"/>
                </a:solidFill>
                <a:latin typeface="Calibri"/>
              </a:rPr>
              <a:t>🚦  </a:t>
            </a:r>
            <a:r>
              <a:rPr sz="1200" b="1" i="0">
                <a:solidFill>
                  <a:srgbClr val="1A5C38"/>
                </a:solidFill>
                <a:latin typeface="Calibri"/>
              </a:rPr>
              <a:t>semaforizar_plato</a:t>
            </a:r>
          </a:p>
        </p:txBody>
      </p:sp>
      <p:sp>
        <p:nvSpPr>
          <p:cNvPr id="22" name="TextBox 21"/>
          <p:cNvSpPr txBox="1"/>
          <p:nvPr/>
        </p:nvSpPr>
        <p:spPr>
          <a:xfrm>
            <a:off x="3374136" y="1920240"/>
            <a:ext cx="2441448" cy="777240"/>
          </a:xfrm>
          <a:prstGeom prst="rect">
            <a:avLst/>
          </a:prstGeom>
          <a:noFill/>
        </p:spPr>
        <p:txBody>
          <a:bodyPr wrap="square" lIns="0" rIns="0" tIns="0" bIns="0" anchor="t">
            <a:spAutoFit/>
          </a:bodyPr>
          <a:lstStyle/>
          <a:p>
            <a:pPr algn="l"/>
            <a:r>
              <a:rPr sz="1050" b="0" i="0">
                <a:solidFill>
                  <a:srgbClr val="1A1A1A"/>
                </a:solidFill>
                <a:latin typeface="Calibri"/>
              </a:rPr>
              <a:t>Clasifica un plato en 6 dimensiones (🟢🟡🔴) con las reglas y ejemplos del nutricionista.</a:t>
            </a:r>
          </a:p>
        </p:txBody>
      </p:sp>
      <p:sp>
        <p:nvSpPr>
          <p:cNvPr id="23" name="Rounded Rectangle 22"/>
          <p:cNvSpPr/>
          <p:nvPr/>
        </p:nvSpPr>
        <p:spPr>
          <a:xfrm>
            <a:off x="3374136" y="2724912"/>
            <a:ext cx="722376" cy="246888"/>
          </a:xfrm>
          <a:prstGeom prst="roundRect">
            <a:avLst>
              <a:gd name="adj" fmla="val 50000"/>
            </a:avLst>
          </a:prstGeom>
          <a:solidFill>
            <a:srgbClr val="A56A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374136" y="2724912"/>
            <a:ext cx="722376" cy="246888"/>
          </a:xfrm>
          <a:prstGeom prst="rect">
            <a:avLst/>
          </a:prstGeom>
          <a:noFill/>
        </p:spPr>
        <p:txBody>
          <a:bodyPr wrap="square" lIns="0" rIns="0" tIns="0" bIns="0" anchor="ctr">
            <a:spAutoFit/>
          </a:bodyPr>
          <a:lstStyle/>
          <a:p>
            <a:pPr algn="ctr"/>
            <a:r>
              <a:rPr sz="850" b="1" i="0">
                <a:solidFill>
                  <a:srgbClr val="FFFFFF"/>
                </a:solidFill>
                <a:latin typeface="Calibri"/>
              </a:rPr>
              <a:t>Claude Haiku</a:t>
            </a:r>
          </a:p>
        </p:txBody>
      </p:sp>
      <p:sp>
        <p:nvSpPr>
          <p:cNvPr id="25" name="Rounded Rectangle 24"/>
          <p:cNvSpPr/>
          <p:nvPr/>
        </p:nvSpPr>
        <p:spPr>
          <a:xfrm>
            <a:off x="6172200" y="1463040"/>
            <a:ext cx="2697480" cy="1627632"/>
          </a:xfrm>
          <a:prstGeom prst="roundRect">
            <a:avLst>
              <a:gd name="adj" fmla="val 5000"/>
            </a:avLst>
          </a:prstGeom>
          <a:solidFill>
            <a:srgbClr val="FFFFFF"/>
          </a:solidFill>
          <a:ln w="12700">
            <a:solidFill>
              <a:srgbClr val="C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503920" y="1554480"/>
            <a:ext cx="274320" cy="274320"/>
          </a:xfrm>
          <a:prstGeom prst="ellipse">
            <a:avLst/>
          </a:prstGeom>
          <a:solidFill>
            <a:srgbClr val="1A5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3920" y="1554480"/>
            <a:ext cx="274320" cy="274320"/>
          </a:xfrm>
          <a:prstGeom prst="rect">
            <a:avLst/>
          </a:prstGeom>
          <a:noFill/>
        </p:spPr>
        <p:txBody>
          <a:bodyPr wrap="square" lIns="0" rIns="0" tIns="0" bIns="0" anchor="ctr">
            <a:spAutoFit/>
          </a:bodyPr>
          <a:lstStyle/>
          <a:p>
            <a:pPr algn="ctr"/>
            <a:r>
              <a:rPr sz="1000" b="1" i="0">
                <a:solidFill>
                  <a:srgbClr val="FFFFFF"/>
                </a:solidFill>
                <a:latin typeface="Calibri"/>
              </a:rPr>
              <a:t>3</a:t>
            </a:r>
          </a:p>
        </p:txBody>
      </p:sp>
      <p:sp>
        <p:nvSpPr>
          <p:cNvPr id="28" name="TextBox 27"/>
          <p:cNvSpPr txBox="1"/>
          <p:nvPr/>
        </p:nvSpPr>
        <p:spPr>
          <a:xfrm>
            <a:off x="6300216" y="1554480"/>
            <a:ext cx="2148840" cy="292608"/>
          </a:xfrm>
          <a:prstGeom prst="rect">
            <a:avLst/>
          </a:prstGeom>
          <a:noFill/>
        </p:spPr>
        <p:txBody>
          <a:bodyPr wrap="square" lIns="0" rIns="0" tIns="0" bIns="0" anchor="ctr">
            <a:spAutoFit/>
          </a:bodyPr>
          <a:lstStyle/>
          <a:p>
            <a:pPr algn="l"/>
            <a:r>
              <a:rPr sz="1200" b="0" i="0">
                <a:solidFill>
                  <a:srgbClr val="1A1A1A"/>
                </a:solidFill>
                <a:latin typeface="Calibri"/>
              </a:rPr>
              <a:t>📦  </a:t>
            </a:r>
            <a:r>
              <a:rPr sz="1200" b="1" i="0">
                <a:solidFill>
                  <a:srgbClr val="1A5C38"/>
                </a:solidFill>
                <a:latin typeface="Calibri"/>
              </a:rPr>
              <a:t>registrar_plato_nuevo</a:t>
            </a:r>
          </a:p>
        </p:txBody>
      </p:sp>
      <p:sp>
        <p:nvSpPr>
          <p:cNvPr id="29" name="TextBox 28"/>
          <p:cNvSpPr txBox="1"/>
          <p:nvPr/>
        </p:nvSpPr>
        <p:spPr>
          <a:xfrm>
            <a:off x="6300216" y="1920240"/>
            <a:ext cx="2441448" cy="777240"/>
          </a:xfrm>
          <a:prstGeom prst="rect">
            <a:avLst/>
          </a:prstGeom>
          <a:noFill/>
        </p:spPr>
        <p:txBody>
          <a:bodyPr wrap="square" lIns="0" rIns="0" tIns="0" bIns="0" anchor="t">
            <a:spAutoFit/>
          </a:bodyPr>
          <a:lstStyle/>
          <a:p>
            <a:pPr algn="l"/>
            <a:r>
              <a:rPr sz="1050" b="0" i="0">
                <a:solidFill>
                  <a:srgbClr val="1A1A1A"/>
                </a:solidFill>
                <a:latin typeface="Calibri"/>
              </a:rPr>
              <a:t>Revisa que no exista, lo guarda, lo clasifica y lo agrega al buscador.</a:t>
            </a:r>
          </a:p>
        </p:txBody>
      </p:sp>
      <p:sp>
        <p:nvSpPr>
          <p:cNvPr id="30" name="Rounded Rectangle 29"/>
          <p:cNvSpPr/>
          <p:nvPr/>
        </p:nvSpPr>
        <p:spPr>
          <a:xfrm>
            <a:off x="6300216" y="2724912"/>
            <a:ext cx="973836" cy="246888"/>
          </a:xfrm>
          <a:prstGeom prst="roundRect">
            <a:avLst>
              <a:gd name="adj" fmla="val 50000"/>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00216" y="2724912"/>
            <a:ext cx="973836" cy="246888"/>
          </a:xfrm>
          <a:prstGeom prst="rect">
            <a:avLst/>
          </a:prstGeom>
          <a:noFill/>
        </p:spPr>
        <p:txBody>
          <a:bodyPr wrap="square" lIns="0" rIns="0" tIns="0" bIns="0" anchor="ctr">
            <a:spAutoFit/>
          </a:bodyPr>
          <a:lstStyle/>
          <a:p>
            <a:pPr algn="ctr"/>
            <a:r>
              <a:rPr sz="850" b="1" i="0">
                <a:solidFill>
                  <a:srgbClr val="FFFFFF"/>
                </a:solidFill>
                <a:latin typeface="Calibri"/>
              </a:rPr>
              <a:t>LlamaIndex+Cohere</a:t>
            </a:r>
          </a:p>
        </p:txBody>
      </p:sp>
      <p:sp>
        <p:nvSpPr>
          <p:cNvPr id="32" name="Rounded Rectangle 31"/>
          <p:cNvSpPr/>
          <p:nvPr/>
        </p:nvSpPr>
        <p:spPr>
          <a:xfrm>
            <a:off x="7328916" y="2724912"/>
            <a:ext cx="722376" cy="246888"/>
          </a:xfrm>
          <a:prstGeom prst="roundRect">
            <a:avLst>
              <a:gd name="adj" fmla="val 50000"/>
            </a:avLst>
          </a:prstGeom>
          <a:solidFill>
            <a:srgbClr val="A56A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28916" y="2724912"/>
            <a:ext cx="722376" cy="246888"/>
          </a:xfrm>
          <a:prstGeom prst="rect">
            <a:avLst/>
          </a:prstGeom>
          <a:noFill/>
        </p:spPr>
        <p:txBody>
          <a:bodyPr wrap="square" lIns="0" rIns="0" tIns="0" bIns="0" anchor="ctr">
            <a:spAutoFit/>
          </a:bodyPr>
          <a:lstStyle/>
          <a:p>
            <a:pPr algn="ctr"/>
            <a:r>
              <a:rPr sz="850" b="1" i="0">
                <a:solidFill>
                  <a:srgbClr val="FFFFFF"/>
                </a:solidFill>
                <a:latin typeface="Calibri"/>
              </a:rPr>
              <a:t>Claude Haiku</a:t>
            </a:r>
          </a:p>
        </p:txBody>
      </p:sp>
      <p:sp>
        <p:nvSpPr>
          <p:cNvPr id="34" name="Rounded Rectangle 33"/>
          <p:cNvSpPr/>
          <p:nvPr/>
        </p:nvSpPr>
        <p:spPr>
          <a:xfrm>
            <a:off x="8106156" y="2724912"/>
            <a:ext cx="571500" cy="246888"/>
          </a:xfrm>
          <a:prstGeom prst="roundRect">
            <a:avLst>
              <a:gd name="adj" fmla="val 50000"/>
            </a:avLst>
          </a:prstGeom>
          <a:solidFill>
            <a:srgbClr val="5BA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106156" y="2724912"/>
            <a:ext cx="571500" cy="246888"/>
          </a:xfrm>
          <a:prstGeom prst="rect">
            <a:avLst/>
          </a:prstGeom>
          <a:noFill/>
        </p:spPr>
        <p:txBody>
          <a:bodyPr wrap="square" lIns="0" rIns="0" tIns="0" bIns="0" anchor="ctr">
            <a:spAutoFit/>
          </a:bodyPr>
          <a:lstStyle/>
          <a:p>
            <a:pPr algn="ctr"/>
            <a:r>
              <a:rPr sz="850" b="1" i="0">
                <a:solidFill>
                  <a:srgbClr val="FFFFFF"/>
                </a:solidFill>
                <a:latin typeface="Calibri"/>
              </a:rPr>
              <a:t>Azure SQL</a:t>
            </a:r>
          </a:p>
        </p:txBody>
      </p:sp>
      <p:sp>
        <p:nvSpPr>
          <p:cNvPr id="36" name="Rounded Rectangle 35"/>
          <p:cNvSpPr/>
          <p:nvPr/>
        </p:nvSpPr>
        <p:spPr>
          <a:xfrm>
            <a:off x="320040" y="3246120"/>
            <a:ext cx="2697480" cy="1627632"/>
          </a:xfrm>
          <a:prstGeom prst="roundRect">
            <a:avLst>
              <a:gd name="adj" fmla="val 5000"/>
            </a:avLst>
          </a:prstGeom>
          <a:solidFill>
            <a:srgbClr val="FFFFFF"/>
          </a:solidFill>
          <a:ln w="12700">
            <a:solidFill>
              <a:srgbClr val="C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2651760" y="3337560"/>
            <a:ext cx="274320" cy="274320"/>
          </a:xfrm>
          <a:prstGeom prst="ellipse">
            <a:avLst/>
          </a:prstGeom>
          <a:solidFill>
            <a:srgbClr val="1A5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651760" y="3337560"/>
            <a:ext cx="274320" cy="274320"/>
          </a:xfrm>
          <a:prstGeom prst="rect">
            <a:avLst/>
          </a:prstGeom>
          <a:noFill/>
        </p:spPr>
        <p:txBody>
          <a:bodyPr wrap="square" lIns="0" rIns="0" tIns="0" bIns="0" anchor="ctr">
            <a:spAutoFit/>
          </a:bodyPr>
          <a:lstStyle/>
          <a:p>
            <a:pPr algn="ctr"/>
            <a:r>
              <a:rPr sz="1000" b="1" i="0">
                <a:solidFill>
                  <a:srgbClr val="FFFFFF"/>
                </a:solidFill>
                <a:latin typeface="Calibri"/>
              </a:rPr>
              <a:t>4</a:t>
            </a:r>
          </a:p>
        </p:txBody>
      </p:sp>
      <p:sp>
        <p:nvSpPr>
          <p:cNvPr id="39" name="TextBox 38"/>
          <p:cNvSpPr txBox="1"/>
          <p:nvPr/>
        </p:nvSpPr>
        <p:spPr>
          <a:xfrm>
            <a:off x="448056" y="3337560"/>
            <a:ext cx="2148840" cy="292608"/>
          </a:xfrm>
          <a:prstGeom prst="rect">
            <a:avLst/>
          </a:prstGeom>
          <a:noFill/>
        </p:spPr>
        <p:txBody>
          <a:bodyPr wrap="square" lIns="0" rIns="0" tIns="0" bIns="0" anchor="ctr">
            <a:spAutoFit/>
          </a:bodyPr>
          <a:lstStyle/>
          <a:p>
            <a:pPr algn="l"/>
            <a:r>
              <a:rPr sz="1200" b="0" i="0">
                <a:solidFill>
                  <a:srgbClr val="1A1A1A"/>
                </a:solidFill>
                <a:latin typeface="Calibri"/>
              </a:rPr>
              <a:t>📅  </a:t>
            </a:r>
            <a:r>
              <a:rPr sz="1200" b="1" i="0">
                <a:solidFill>
                  <a:srgbClr val="1A5C38"/>
                </a:solidFill>
                <a:latin typeface="Calibri"/>
              </a:rPr>
              <a:t>generar_menu_mes</a:t>
            </a:r>
          </a:p>
        </p:txBody>
      </p:sp>
      <p:sp>
        <p:nvSpPr>
          <p:cNvPr id="40" name="TextBox 39"/>
          <p:cNvSpPr txBox="1"/>
          <p:nvPr/>
        </p:nvSpPr>
        <p:spPr>
          <a:xfrm>
            <a:off x="448056" y="3703320"/>
            <a:ext cx="2441448" cy="777240"/>
          </a:xfrm>
          <a:prstGeom prst="rect">
            <a:avLst/>
          </a:prstGeom>
          <a:noFill/>
        </p:spPr>
        <p:txBody>
          <a:bodyPr wrap="square" lIns="0" rIns="0" tIns="0" bIns="0" anchor="t">
            <a:spAutoFit/>
          </a:bodyPr>
          <a:lstStyle/>
          <a:p>
            <a:pPr algn="l"/>
            <a:r>
              <a:rPr sz="1050" b="0" i="0">
                <a:solidFill>
                  <a:srgbClr val="1A1A1A"/>
                </a:solidFill>
                <a:latin typeface="Calibri"/>
              </a:rPr>
              <a:t>Arma el menú del mes con el algoritmo greedy: meta 60/30/10 y máx. 4 repeticiones.</a:t>
            </a:r>
          </a:p>
        </p:txBody>
      </p:sp>
      <p:sp>
        <p:nvSpPr>
          <p:cNvPr id="41" name="Rounded Rectangle 40"/>
          <p:cNvSpPr/>
          <p:nvPr/>
        </p:nvSpPr>
        <p:spPr>
          <a:xfrm>
            <a:off x="448056" y="4507992"/>
            <a:ext cx="1527048" cy="246888"/>
          </a:xfrm>
          <a:prstGeom prst="roundRect">
            <a:avLst>
              <a:gd name="adj" fmla="val 50000"/>
            </a:avLst>
          </a:prstGeom>
          <a:solidFill>
            <a:srgbClr val="A56A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8056" y="4507992"/>
            <a:ext cx="1527048" cy="246888"/>
          </a:xfrm>
          <a:prstGeom prst="rect">
            <a:avLst/>
          </a:prstGeom>
          <a:noFill/>
        </p:spPr>
        <p:txBody>
          <a:bodyPr wrap="square" lIns="0" rIns="0" tIns="0" bIns="0" anchor="ctr">
            <a:spAutoFit/>
          </a:bodyPr>
          <a:lstStyle/>
          <a:p>
            <a:pPr algn="ctr"/>
            <a:r>
              <a:rPr sz="850" b="1" i="0">
                <a:solidFill>
                  <a:srgbClr val="FFFFFF"/>
                </a:solidFill>
                <a:latin typeface="Calibri"/>
              </a:rPr>
              <a:t>Claude Haiku (platos nuevos)</a:t>
            </a:r>
          </a:p>
        </p:txBody>
      </p:sp>
      <p:sp>
        <p:nvSpPr>
          <p:cNvPr id="43" name="Rounded Rectangle 42"/>
          <p:cNvSpPr/>
          <p:nvPr/>
        </p:nvSpPr>
        <p:spPr>
          <a:xfrm>
            <a:off x="2029967" y="4507992"/>
            <a:ext cx="571500" cy="246888"/>
          </a:xfrm>
          <a:prstGeom prst="roundRect">
            <a:avLst>
              <a:gd name="adj" fmla="val 50000"/>
            </a:avLst>
          </a:prstGeom>
          <a:solidFill>
            <a:srgbClr val="5BA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029967" y="4507992"/>
            <a:ext cx="571500" cy="246888"/>
          </a:xfrm>
          <a:prstGeom prst="rect">
            <a:avLst/>
          </a:prstGeom>
          <a:noFill/>
        </p:spPr>
        <p:txBody>
          <a:bodyPr wrap="square" lIns="0" rIns="0" tIns="0" bIns="0" anchor="ctr">
            <a:spAutoFit/>
          </a:bodyPr>
          <a:lstStyle/>
          <a:p>
            <a:pPr algn="ctr"/>
            <a:r>
              <a:rPr sz="850" b="1" i="0">
                <a:solidFill>
                  <a:srgbClr val="FFFFFF"/>
                </a:solidFill>
                <a:latin typeface="Calibri"/>
              </a:rPr>
              <a:t>Azure SQL</a:t>
            </a:r>
          </a:p>
        </p:txBody>
      </p:sp>
      <p:sp>
        <p:nvSpPr>
          <p:cNvPr id="45" name="Rounded Rectangle 44"/>
          <p:cNvSpPr/>
          <p:nvPr/>
        </p:nvSpPr>
        <p:spPr>
          <a:xfrm>
            <a:off x="3246120" y="3246120"/>
            <a:ext cx="2697480" cy="1627632"/>
          </a:xfrm>
          <a:prstGeom prst="roundRect">
            <a:avLst>
              <a:gd name="adj" fmla="val 5000"/>
            </a:avLst>
          </a:prstGeom>
          <a:solidFill>
            <a:srgbClr val="FFFFFF"/>
          </a:solidFill>
          <a:ln w="12700">
            <a:solidFill>
              <a:srgbClr val="C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5577840" y="3337560"/>
            <a:ext cx="274320" cy="274320"/>
          </a:xfrm>
          <a:prstGeom prst="ellipse">
            <a:avLst/>
          </a:prstGeom>
          <a:solidFill>
            <a:srgbClr val="1A5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577840" y="3337560"/>
            <a:ext cx="274320" cy="274320"/>
          </a:xfrm>
          <a:prstGeom prst="rect">
            <a:avLst/>
          </a:prstGeom>
          <a:noFill/>
        </p:spPr>
        <p:txBody>
          <a:bodyPr wrap="square" lIns="0" rIns="0" tIns="0" bIns="0" anchor="ctr">
            <a:spAutoFit/>
          </a:bodyPr>
          <a:lstStyle/>
          <a:p>
            <a:pPr algn="ctr"/>
            <a:r>
              <a:rPr sz="1000" b="1" i="0">
                <a:solidFill>
                  <a:srgbClr val="FFFFFF"/>
                </a:solidFill>
                <a:latin typeface="Calibri"/>
              </a:rPr>
              <a:t>5</a:t>
            </a:r>
          </a:p>
        </p:txBody>
      </p:sp>
      <p:sp>
        <p:nvSpPr>
          <p:cNvPr id="48" name="TextBox 47"/>
          <p:cNvSpPr txBox="1"/>
          <p:nvPr/>
        </p:nvSpPr>
        <p:spPr>
          <a:xfrm>
            <a:off x="3374136" y="3337560"/>
            <a:ext cx="2148840" cy="292608"/>
          </a:xfrm>
          <a:prstGeom prst="rect">
            <a:avLst/>
          </a:prstGeom>
          <a:noFill/>
        </p:spPr>
        <p:txBody>
          <a:bodyPr wrap="square" lIns="0" rIns="0" tIns="0" bIns="0" anchor="ctr">
            <a:spAutoFit/>
          </a:bodyPr>
          <a:lstStyle/>
          <a:p>
            <a:pPr algn="l"/>
            <a:r>
              <a:rPr sz="1200" b="0" i="0">
                <a:solidFill>
                  <a:srgbClr val="1A1A1A"/>
                </a:solidFill>
                <a:latin typeface="Calibri"/>
              </a:rPr>
              <a:t>👁️  </a:t>
            </a:r>
            <a:r>
              <a:rPr sz="1200" b="1" i="0">
                <a:solidFill>
                  <a:srgbClr val="1A5C38"/>
                </a:solidFill>
                <a:latin typeface="Calibri"/>
              </a:rPr>
              <a:t>obtener_menu_mes</a:t>
            </a:r>
          </a:p>
        </p:txBody>
      </p:sp>
      <p:sp>
        <p:nvSpPr>
          <p:cNvPr id="49" name="TextBox 48"/>
          <p:cNvSpPr txBox="1"/>
          <p:nvPr/>
        </p:nvSpPr>
        <p:spPr>
          <a:xfrm>
            <a:off x="3374136" y="3703320"/>
            <a:ext cx="2441448" cy="777240"/>
          </a:xfrm>
          <a:prstGeom prst="rect">
            <a:avLst/>
          </a:prstGeom>
          <a:noFill/>
        </p:spPr>
        <p:txBody>
          <a:bodyPr wrap="square" lIns="0" rIns="0" tIns="0" bIns="0" anchor="t">
            <a:spAutoFit/>
          </a:bodyPr>
          <a:lstStyle/>
          <a:p>
            <a:pPr algn="l"/>
            <a:r>
              <a:rPr sz="1050" b="0" i="0">
                <a:solidFill>
                  <a:srgbClr val="1A1A1A"/>
                </a:solidFill>
                <a:latin typeface="Calibri"/>
              </a:rPr>
              <a:t>Muestra el menú de un día, de un rango o del mes completo, con su semáforo.</a:t>
            </a:r>
          </a:p>
        </p:txBody>
      </p:sp>
      <p:sp>
        <p:nvSpPr>
          <p:cNvPr id="50" name="Rounded Rectangle 49"/>
          <p:cNvSpPr/>
          <p:nvPr/>
        </p:nvSpPr>
        <p:spPr>
          <a:xfrm>
            <a:off x="3374136" y="4507992"/>
            <a:ext cx="571500" cy="246888"/>
          </a:xfrm>
          <a:prstGeom prst="roundRect">
            <a:avLst>
              <a:gd name="adj" fmla="val 50000"/>
            </a:avLst>
          </a:prstGeom>
          <a:solidFill>
            <a:srgbClr val="5BA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374136" y="4507992"/>
            <a:ext cx="571500" cy="246888"/>
          </a:xfrm>
          <a:prstGeom prst="rect">
            <a:avLst/>
          </a:prstGeom>
          <a:noFill/>
        </p:spPr>
        <p:txBody>
          <a:bodyPr wrap="square" lIns="0" rIns="0" tIns="0" bIns="0" anchor="ctr">
            <a:spAutoFit/>
          </a:bodyPr>
          <a:lstStyle/>
          <a:p>
            <a:pPr algn="ctr"/>
            <a:r>
              <a:rPr sz="850" b="1" i="0">
                <a:solidFill>
                  <a:srgbClr val="FFFFFF"/>
                </a:solidFill>
                <a:latin typeface="Calibri"/>
              </a:rPr>
              <a:t>Azure SQL</a:t>
            </a:r>
          </a:p>
        </p:txBody>
      </p:sp>
      <p:sp>
        <p:nvSpPr>
          <p:cNvPr id="52" name="Rounded Rectangle 51"/>
          <p:cNvSpPr/>
          <p:nvPr/>
        </p:nvSpPr>
        <p:spPr>
          <a:xfrm>
            <a:off x="6172200" y="3246120"/>
            <a:ext cx="2697480" cy="1627632"/>
          </a:xfrm>
          <a:prstGeom prst="roundRect">
            <a:avLst>
              <a:gd name="adj" fmla="val 5000"/>
            </a:avLst>
          </a:prstGeom>
          <a:solidFill>
            <a:srgbClr val="FFFFFF"/>
          </a:solidFill>
          <a:ln w="12700">
            <a:solidFill>
              <a:srgbClr val="C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8503920" y="3337560"/>
            <a:ext cx="274320" cy="274320"/>
          </a:xfrm>
          <a:prstGeom prst="ellipse">
            <a:avLst/>
          </a:prstGeom>
          <a:solidFill>
            <a:srgbClr val="1A5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503920" y="3337560"/>
            <a:ext cx="274320" cy="274320"/>
          </a:xfrm>
          <a:prstGeom prst="rect">
            <a:avLst/>
          </a:prstGeom>
          <a:noFill/>
        </p:spPr>
        <p:txBody>
          <a:bodyPr wrap="square" lIns="0" rIns="0" tIns="0" bIns="0" anchor="ctr">
            <a:spAutoFit/>
          </a:bodyPr>
          <a:lstStyle/>
          <a:p>
            <a:pPr algn="ctr"/>
            <a:r>
              <a:rPr sz="1000" b="1" i="0">
                <a:solidFill>
                  <a:srgbClr val="FFFFFF"/>
                </a:solidFill>
                <a:latin typeface="Calibri"/>
              </a:rPr>
              <a:t>6</a:t>
            </a:r>
          </a:p>
        </p:txBody>
      </p:sp>
      <p:sp>
        <p:nvSpPr>
          <p:cNvPr id="55" name="TextBox 54"/>
          <p:cNvSpPr txBox="1"/>
          <p:nvPr/>
        </p:nvSpPr>
        <p:spPr>
          <a:xfrm>
            <a:off x="6300216" y="3337560"/>
            <a:ext cx="2148840" cy="292608"/>
          </a:xfrm>
          <a:prstGeom prst="rect">
            <a:avLst/>
          </a:prstGeom>
          <a:noFill/>
        </p:spPr>
        <p:txBody>
          <a:bodyPr wrap="square" lIns="0" rIns="0" tIns="0" bIns="0" anchor="ctr">
            <a:spAutoFit/>
          </a:bodyPr>
          <a:lstStyle/>
          <a:p>
            <a:pPr algn="l"/>
            <a:r>
              <a:rPr sz="1200" b="0" i="0">
                <a:solidFill>
                  <a:srgbClr val="1A1A1A"/>
                </a:solidFill>
                <a:latin typeface="Calibri"/>
              </a:rPr>
              <a:t>✏️  </a:t>
            </a:r>
            <a:r>
              <a:rPr sz="1200" b="1" i="0">
                <a:solidFill>
                  <a:srgbClr val="1A5C38"/>
                </a:solidFill>
                <a:latin typeface="Calibri"/>
              </a:rPr>
              <a:t>modificar_dia_menu</a:t>
            </a:r>
          </a:p>
        </p:txBody>
      </p:sp>
      <p:sp>
        <p:nvSpPr>
          <p:cNvPr id="56" name="TextBox 55"/>
          <p:cNvSpPr txBox="1"/>
          <p:nvPr/>
        </p:nvSpPr>
        <p:spPr>
          <a:xfrm>
            <a:off x="6300216" y="3703320"/>
            <a:ext cx="2441448" cy="777240"/>
          </a:xfrm>
          <a:prstGeom prst="rect">
            <a:avLst/>
          </a:prstGeom>
          <a:noFill/>
        </p:spPr>
        <p:txBody>
          <a:bodyPr wrap="square" lIns="0" rIns="0" tIns="0" bIns="0" anchor="t">
            <a:spAutoFit/>
          </a:bodyPr>
          <a:lstStyle/>
          <a:p>
            <a:pPr algn="l"/>
            <a:r>
              <a:rPr sz="1050" b="0" i="0">
                <a:solidFill>
                  <a:srgbClr val="1A1A1A"/>
                </a:solidFill>
                <a:latin typeface="Calibri"/>
              </a:rPr>
              <a:t>Cambia un plato de un día. El plato nuevo debe tener ya su semáforo.</a:t>
            </a:r>
          </a:p>
        </p:txBody>
      </p:sp>
      <p:sp>
        <p:nvSpPr>
          <p:cNvPr id="57" name="Rounded Rectangle 56"/>
          <p:cNvSpPr/>
          <p:nvPr/>
        </p:nvSpPr>
        <p:spPr>
          <a:xfrm>
            <a:off x="6300216" y="4507992"/>
            <a:ext cx="571500" cy="246888"/>
          </a:xfrm>
          <a:prstGeom prst="roundRect">
            <a:avLst>
              <a:gd name="adj" fmla="val 50000"/>
            </a:avLst>
          </a:prstGeom>
          <a:solidFill>
            <a:srgbClr val="5BA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300216" y="4507992"/>
            <a:ext cx="571500" cy="246888"/>
          </a:xfrm>
          <a:prstGeom prst="rect">
            <a:avLst/>
          </a:prstGeom>
          <a:noFill/>
        </p:spPr>
        <p:txBody>
          <a:bodyPr wrap="square" lIns="0" rIns="0" tIns="0" bIns="0" anchor="ctr">
            <a:spAutoFit/>
          </a:bodyPr>
          <a:lstStyle/>
          <a:p>
            <a:pPr algn="ctr"/>
            <a:r>
              <a:rPr sz="850" b="1" i="0">
                <a:solidFill>
                  <a:srgbClr val="FFFFFF"/>
                </a:solidFill>
                <a:latin typeface="Calibri"/>
              </a:rPr>
              <a:t>Azure SQL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E8F5EE"/>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5C38"/>
          </a:solidFill>
          <a:ln/>
        </p:spPr>
        <p:txBody>
          <a:bodyPr/>
          <a:p/>
        </p:txBody>
      </p:sp>
      <p:sp>
        <p:nvSpPr>
          <p:cNvPr id="3" name="Text 1"/>
          <p:cNvSpPr txBox="1"/>
          <p:nvPr/>
        </p:nvSpPr>
        <p:spPr>
          <a:xfrm>
            <a:off x="365760" y="91440"/>
            <a:ext cx="8229600" cy="7315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Cómo Busca un Plato (RAG)</a:t>
            </a:r>
            <a:endParaRPr lang="en-US" sz="3000" dirty="0"/>
          </a:p>
        </p:txBody>
      </p:sp>
      <p:sp>
        <p:nvSpPr>
          <p:cNvPr id="4" name="Shape 2"/>
          <p:cNvSpPr/>
          <p:nvPr/>
        </p:nvSpPr>
        <p:spPr>
          <a:xfrm>
            <a:off x="320040" y="1051560"/>
            <a:ext cx="1508760" cy="457200"/>
          </a:xfrm>
          <a:prstGeom prst="roundRect">
            <a:avLst>
              <a:gd name="adj" fmla="val 16000"/>
            </a:avLst>
          </a:prstGeom>
          <a:solidFill>
            <a:srgbClr val="1A5C38"/>
          </a:solidFill>
          <a:ln/>
        </p:spPr>
        <p:txBody>
          <a:bodyPr/>
          <a:p/>
        </p:txBody>
      </p:sp>
      <p:sp>
        <p:nvSpPr>
          <p:cNvPr id="5" name="Text 3"/>
          <p:cNvSpPr txBox="1"/>
          <p:nvPr/>
        </p:nvSpPr>
        <p:spPr>
          <a:xfrm>
            <a:off x="320040" y="1051560"/>
            <a:ext cx="1508760" cy="45720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6" name="Shape 4"/>
          <p:cNvSpPr/>
          <p:nvPr/>
        </p:nvSpPr>
        <p:spPr>
          <a:xfrm>
            <a:off x="1828800" y="1207008"/>
            <a:ext cx="201168" cy="146304"/>
          </a:xfrm>
          <a:prstGeom prst="rect">
            <a:avLst/>
          </a:prstGeom>
          <a:solidFill>
            <a:srgbClr val="5A7265"/>
          </a:solidFill>
          <a:ln/>
        </p:spPr>
        <p:txBody>
          <a:bodyPr/>
          <a:p/>
        </p:txBody>
      </p:sp>
      <p:sp>
        <p:nvSpPr>
          <p:cNvPr id="7" name="Text 5"/>
          <p:cNvSpPr txBox="1"/>
          <p:nvPr/>
        </p:nvSpPr>
        <p:spPr>
          <a:xfrm>
            <a:off x="274320" y="1600200"/>
            <a:ext cx="1600200" cy="411480"/>
          </a:xfrm>
          <a:prstGeom prst="rect">
            <a:avLst/>
          </a:prstGeom>
          <a:noFill/>
          <a:ln/>
        </p:spPr>
        <p:txBody>
          <a:bodyPr wrap="square" lIns="0" tIns="0" rIns="0" bIns="0" rtlCol="0" anchor="ctr"/>
          <a:lstStyle/>
          <a:p>
            <a:pPr marL="0" indent="0" algn="ctr">
              <a:buNone/>
            </a:pPr>
            <a:r>
              <a:rPr lang="en-US" sz="1200" b="1" dirty="0">
                <a:solidFill>
                  <a:srgbClr val="1A5C38"/>
                </a:solidFill>
                <a:latin typeface="Calibri" pitchFamily="34" charset="0"/>
                <a:ea typeface="Calibri" pitchFamily="34" charset="-122"/>
                <a:cs typeface="Calibri" pitchFamily="34" charset="-120"/>
              </a:rPr>
              <a:t>Tu pregunta</a:t>
            </a:r>
            <a:endParaRPr lang="en-US" sz="1200" dirty="0"/>
          </a:p>
        </p:txBody>
      </p:sp>
      <p:sp>
        <p:nvSpPr>
          <p:cNvPr id="8" name="Text 6"/>
          <p:cNvSpPr txBox="1"/>
          <p:nvPr/>
        </p:nvSpPr>
        <p:spPr>
          <a:xfrm>
            <a:off x="274320" y="2057400"/>
            <a:ext cx="1600200" cy="2560320"/>
          </a:xfrm>
          <a:prstGeom prst="rect">
            <a:avLst/>
          </a:prstGeom>
          <a:noFill/>
          <a:ln/>
        </p:spPr>
        <p:txBody>
          <a:bodyPr wrap="square" lIns="0" tIns="0" rIns="0" bIns="0" rtlCol="0" anchor="ctr"/>
          <a:lstStyle/>
          <a:p>
            <a:pPr marL="0" indent="0" algn="l">
              <a:buNone/>
            </a:pPr>
            <a:r>
              <a:rPr lang="en-US" sz="1100" dirty="0">
                <a:solidFill>
                  <a:srgbClr val="1A1A1A"/>
                </a:solidFill>
                <a:latin typeface="Calibri" pitchFamily="34" charset="0"/>
                <a:ea typeface="Calibri" pitchFamily="34" charset="-122"/>
                <a:cs typeface="Calibri" pitchFamily="34" charset="-120"/>
              </a:rPr>
              <a:t>El agente entiende lo que pides y lanza la búsqueda (ej. «pollo a la plancha»).</a:t>
            </a:r>
            <a:endParaRPr lang="en-US" sz="1100" dirty="0"/>
          </a:p>
        </p:txBody>
      </p:sp>
      <p:sp>
        <p:nvSpPr>
          <p:cNvPr id="9" name="Shape 7"/>
          <p:cNvSpPr/>
          <p:nvPr/>
        </p:nvSpPr>
        <p:spPr>
          <a:xfrm>
            <a:off x="2029968" y="1051560"/>
            <a:ext cx="1508760" cy="457200"/>
          </a:xfrm>
          <a:prstGeom prst="roundRect">
            <a:avLst>
              <a:gd name="adj" fmla="val 16000"/>
            </a:avLst>
          </a:prstGeom>
          <a:solidFill>
            <a:srgbClr val="5BA4CF"/>
          </a:solidFill>
          <a:ln/>
        </p:spPr>
        <p:txBody>
          <a:bodyPr/>
          <a:p/>
        </p:txBody>
      </p:sp>
      <p:sp>
        <p:nvSpPr>
          <p:cNvPr id="10" name="Text 8"/>
          <p:cNvSpPr txBox="1"/>
          <p:nvPr/>
        </p:nvSpPr>
        <p:spPr>
          <a:xfrm>
            <a:off x="2029968" y="1051560"/>
            <a:ext cx="1508760" cy="45720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1" name="Shape 9"/>
          <p:cNvSpPr/>
          <p:nvPr/>
        </p:nvSpPr>
        <p:spPr>
          <a:xfrm>
            <a:off x="3538728" y="1207008"/>
            <a:ext cx="201168" cy="146304"/>
          </a:xfrm>
          <a:prstGeom prst="rect">
            <a:avLst/>
          </a:prstGeom>
          <a:solidFill>
            <a:srgbClr val="5A7265"/>
          </a:solidFill>
          <a:ln/>
        </p:spPr>
        <p:txBody>
          <a:bodyPr/>
          <a:p/>
        </p:txBody>
      </p:sp>
      <p:sp>
        <p:nvSpPr>
          <p:cNvPr id="12" name="Text 10"/>
          <p:cNvSpPr txBox="1"/>
          <p:nvPr/>
        </p:nvSpPr>
        <p:spPr>
          <a:xfrm>
            <a:off x="1984248" y="1600200"/>
            <a:ext cx="1600200" cy="411480"/>
          </a:xfrm>
          <a:prstGeom prst="rect">
            <a:avLst/>
          </a:prstGeom>
          <a:noFill/>
          <a:ln/>
        </p:spPr>
        <p:txBody>
          <a:bodyPr wrap="square" lIns="0" tIns="0" rIns="0" bIns="0" rtlCol="0" anchor="ctr"/>
          <a:lstStyle/>
          <a:p>
            <a:pPr marL="0" indent="0" algn="ctr">
              <a:buNone/>
            </a:pPr>
            <a:r>
              <a:rPr lang="en-US" sz="1200" b="1" dirty="0">
                <a:solidFill>
                  <a:srgbClr val="5BA4CF"/>
                </a:solidFill>
                <a:latin typeface="Calibri" pitchFamily="34" charset="0"/>
                <a:ea typeface="Calibri" pitchFamily="34" charset="-122"/>
                <a:cs typeface="Calibri" pitchFamily="34" charset="-120"/>
              </a:rPr>
              <a:t>Texto → números</a:t>
            </a:r>
            <a:endParaRPr lang="en-US" sz="1200" dirty="0"/>
          </a:p>
        </p:txBody>
      </p:sp>
      <p:sp>
        <p:nvSpPr>
          <p:cNvPr id="13" name="Text 11"/>
          <p:cNvSpPr txBox="1"/>
          <p:nvPr/>
        </p:nvSpPr>
        <p:spPr>
          <a:xfrm>
            <a:off x="1984248" y="2057400"/>
            <a:ext cx="1600200" cy="2560320"/>
          </a:xfrm>
          <a:prstGeom prst="rect">
            <a:avLst/>
          </a:prstGeom>
          <a:noFill/>
          <a:ln/>
        </p:spPr>
        <p:txBody>
          <a:bodyPr wrap="square" lIns="0" tIns="0" rIns="0" bIns="0" rtlCol="0" anchor="ctr"/>
          <a:lstStyle/>
          <a:p>
            <a:pPr marL="0" indent="0" algn="l">
              <a:buNone/>
            </a:pPr>
            <a:r>
              <a:rPr lang="en-US" sz="1100" dirty="0">
                <a:solidFill>
                  <a:srgbClr val="1A1A1A"/>
                </a:solidFill>
                <a:latin typeface="Calibri" pitchFamily="34" charset="0"/>
                <a:ea typeface="Calibri" pitchFamily="34" charset="-122"/>
                <a:cs typeface="Calibri" pitchFamily="34" charset="-120"/>
              </a:rPr>
              <a:t>Cohere convierte la búsqueda en un vector: números que representan su significado.</a:t>
            </a:r>
            <a:endParaRPr lang="en-US" sz="1100" dirty="0"/>
          </a:p>
        </p:txBody>
      </p:sp>
      <p:sp>
        <p:nvSpPr>
          <p:cNvPr id="14" name="Shape 12"/>
          <p:cNvSpPr/>
          <p:nvPr/>
        </p:nvSpPr>
        <p:spPr>
          <a:xfrm>
            <a:off x="3739896" y="1051560"/>
            <a:ext cx="1508760" cy="457200"/>
          </a:xfrm>
          <a:prstGeom prst="roundRect">
            <a:avLst>
              <a:gd name="adj" fmla="val 16000"/>
            </a:avLst>
          </a:prstGeom>
          <a:solidFill>
            <a:srgbClr val="A56ABD"/>
          </a:solidFill>
          <a:ln/>
        </p:spPr>
        <p:txBody>
          <a:bodyPr/>
          <a:p/>
        </p:txBody>
      </p:sp>
      <p:sp>
        <p:nvSpPr>
          <p:cNvPr id="15" name="Text 13"/>
          <p:cNvSpPr txBox="1"/>
          <p:nvPr/>
        </p:nvSpPr>
        <p:spPr>
          <a:xfrm>
            <a:off x="3739896" y="1051560"/>
            <a:ext cx="1508760" cy="45720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Shape 14"/>
          <p:cNvSpPr/>
          <p:nvPr/>
        </p:nvSpPr>
        <p:spPr>
          <a:xfrm>
            <a:off x="5248656" y="1207008"/>
            <a:ext cx="201168" cy="146304"/>
          </a:xfrm>
          <a:prstGeom prst="rect">
            <a:avLst/>
          </a:prstGeom>
          <a:solidFill>
            <a:srgbClr val="5A7265"/>
          </a:solidFill>
          <a:ln/>
        </p:spPr>
        <p:txBody>
          <a:bodyPr/>
          <a:p/>
        </p:txBody>
      </p:sp>
      <p:sp>
        <p:nvSpPr>
          <p:cNvPr id="17" name="Text 15"/>
          <p:cNvSpPr txBox="1"/>
          <p:nvPr/>
        </p:nvSpPr>
        <p:spPr>
          <a:xfrm>
            <a:off x="3694176" y="1600200"/>
            <a:ext cx="1600200" cy="411480"/>
          </a:xfrm>
          <a:prstGeom prst="rect">
            <a:avLst/>
          </a:prstGeom>
          <a:noFill/>
          <a:ln/>
        </p:spPr>
        <p:txBody>
          <a:bodyPr wrap="square" lIns="0" tIns="0" rIns="0" bIns="0" rtlCol="0" anchor="ctr"/>
          <a:lstStyle/>
          <a:p>
            <a:pPr marL="0" indent="0" algn="ctr">
              <a:buNone/>
            </a:pPr>
            <a:r>
              <a:rPr lang="en-US" sz="1200" b="1" dirty="0">
                <a:solidFill>
                  <a:srgbClr val="A56ABD"/>
                </a:solidFill>
                <a:latin typeface="Calibri" pitchFamily="34" charset="0"/>
                <a:ea typeface="Calibri" pitchFamily="34" charset="-122"/>
                <a:cs typeface="Calibri" pitchFamily="34" charset="-120"/>
              </a:rPr>
              <a:t>Búsqueda por significado</a:t>
            </a:r>
            <a:endParaRPr lang="en-US" sz="1200" dirty="0"/>
          </a:p>
        </p:txBody>
      </p:sp>
      <p:sp>
        <p:nvSpPr>
          <p:cNvPr id="18" name="Text 16"/>
          <p:cNvSpPr txBox="1"/>
          <p:nvPr/>
        </p:nvSpPr>
        <p:spPr>
          <a:xfrm>
            <a:off x="3694176" y="2057400"/>
            <a:ext cx="1600200" cy="2560320"/>
          </a:xfrm>
          <a:prstGeom prst="rect">
            <a:avLst/>
          </a:prstGeom>
          <a:noFill/>
          <a:ln/>
        </p:spPr>
        <p:txBody>
          <a:bodyPr wrap="square" lIns="0" tIns="0" rIns="0" bIns="0" rtlCol="0" anchor="ctr"/>
          <a:lstStyle/>
          <a:p>
            <a:pPr marL="0" indent="0" algn="l">
              <a:buNone/>
            </a:pPr>
            <a:r>
              <a:rPr lang="en-US" sz="1100" dirty="0">
                <a:solidFill>
                  <a:srgbClr val="1A1A1A"/>
                </a:solidFill>
                <a:latin typeface="Calibri" pitchFamily="34" charset="0"/>
                <a:ea typeface="Calibri" pitchFamily="34" charset="-122"/>
                <a:cs typeface="Calibri" pitchFamily="34" charset="-120"/>
              </a:rPr>
              <a:t>LlamaIndex compara ese vector con los de todos los platos y encuentra los más parecidos.</a:t>
            </a:r>
            <a:endParaRPr lang="en-US" sz="1100" dirty="0"/>
          </a:p>
        </p:txBody>
      </p:sp>
      <p:sp>
        <p:nvSpPr>
          <p:cNvPr id="19" name="Shape 17"/>
          <p:cNvSpPr/>
          <p:nvPr/>
        </p:nvSpPr>
        <p:spPr>
          <a:xfrm>
            <a:off x="5449824" y="1051560"/>
            <a:ext cx="1508760" cy="457200"/>
          </a:xfrm>
          <a:prstGeom prst="roundRect">
            <a:avLst>
              <a:gd name="adj" fmla="val 16000"/>
            </a:avLst>
          </a:prstGeom>
          <a:solidFill>
            <a:srgbClr val="E07B00"/>
          </a:solidFill>
          <a:ln/>
        </p:spPr>
        <p:txBody>
          <a:bodyPr/>
          <a:p/>
        </p:txBody>
      </p:sp>
      <p:sp>
        <p:nvSpPr>
          <p:cNvPr id="20" name="Text 18"/>
          <p:cNvSpPr txBox="1"/>
          <p:nvPr/>
        </p:nvSpPr>
        <p:spPr>
          <a:xfrm>
            <a:off x="5449824" y="1051560"/>
            <a:ext cx="1508760" cy="45720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1" name="Shape 19"/>
          <p:cNvSpPr/>
          <p:nvPr/>
        </p:nvSpPr>
        <p:spPr>
          <a:xfrm>
            <a:off x="6958584" y="1207008"/>
            <a:ext cx="201168" cy="146304"/>
          </a:xfrm>
          <a:prstGeom prst="rect">
            <a:avLst/>
          </a:prstGeom>
          <a:solidFill>
            <a:srgbClr val="5A7265"/>
          </a:solidFill>
          <a:ln/>
        </p:spPr>
        <p:txBody>
          <a:bodyPr/>
          <a:p/>
        </p:txBody>
      </p:sp>
      <p:sp>
        <p:nvSpPr>
          <p:cNvPr id="22" name="Text 20"/>
          <p:cNvSpPr txBox="1"/>
          <p:nvPr/>
        </p:nvSpPr>
        <p:spPr>
          <a:xfrm>
            <a:off x="5404104" y="1600200"/>
            <a:ext cx="1600200" cy="411480"/>
          </a:xfrm>
          <a:prstGeom prst="rect">
            <a:avLst/>
          </a:prstGeom>
          <a:noFill/>
          <a:ln/>
        </p:spPr>
        <p:txBody>
          <a:bodyPr wrap="square" lIns="0" tIns="0" rIns="0" bIns="0" rtlCol="0" anchor="ctr"/>
          <a:lstStyle/>
          <a:p>
            <a:pPr marL="0" indent="0" algn="ctr">
              <a:buNone/>
            </a:pPr>
            <a:r>
              <a:rPr lang="en-US" sz="1200" b="1" dirty="0">
                <a:solidFill>
                  <a:srgbClr val="E07B00"/>
                </a:solidFill>
                <a:latin typeface="Calibri" pitchFamily="34" charset="0"/>
                <a:ea typeface="Calibri" pitchFamily="34" charset="-122"/>
                <a:cs typeface="Calibri" pitchFamily="34" charset="-120"/>
              </a:rPr>
              <a:t>Datos del plato</a:t>
            </a:r>
            <a:endParaRPr lang="en-US" sz="1200" dirty="0"/>
          </a:p>
        </p:txBody>
      </p:sp>
      <p:sp>
        <p:nvSpPr>
          <p:cNvPr id="23" name="Text 21"/>
          <p:cNvSpPr txBox="1"/>
          <p:nvPr/>
        </p:nvSpPr>
        <p:spPr>
          <a:xfrm>
            <a:off x="5404104" y="2057400"/>
            <a:ext cx="1600200" cy="2560320"/>
          </a:xfrm>
          <a:prstGeom prst="rect">
            <a:avLst/>
          </a:prstGeom>
          <a:noFill/>
          <a:ln/>
        </p:spPr>
        <p:txBody>
          <a:bodyPr wrap="square" lIns="0" tIns="0" rIns="0" bIns="0" rtlCol="0" anchor="ctr"/>
          <a:lstStyle/>
          <a:p>
            <a:pPr marL="0" indent="0" algn="l">
              <a:buNone/>
            </a:pPr>
            <a:r>
              <a:rPr lang="en-US" sz="1100" dirty="0">
                <a:solidFill>
                  <a:srgbClr val="1A1A1A"/>
                </a:solidFill>
                <a:latin typeface="Calibri" pitchFamily="34" charset="0"/>
                <a:ea typeface="Calibri" pitchFamily="34" charset="-122"/>
                <a:cs typeface="Calibri" pitchFamily="34" charset="-120"/>
              </a:rPr>
              <a:t>Cada resultado trae su nombre, tipo (fondo, sopa…), insumo y turno.</a:t>
            </a:r>
            <a:endParaRPr lang="en-US" sz="1100" dirty="0"/>
          </a:p>
        </p:txBody>
      </p:sp>
      <p:sp>
        <p:nvSpPr>
          <p:cNvPr id="24" name="Shape 22"/>
          <p:cNvSpPr/>
          <p:nvPr/>
        </p:nvSpPr>
        <p:spPr>
          <a:xfrm>
            <a:off x="7159752" y="1051560"/>
            <a:ext cx="1508760" cy="457200"/>
          </a:xfrm>
          <a:prstGeom prst="roundRect">
            <a:avLst>
              <a:gd name="adj" fmla="val 16000"/>
            </a:avLst>
          </a:prstGeom>
          <a:solidFill>
            <a:srgbClr val="2E8B57"/>
          </a:solidFill>
          <a:ln/>
        </p:spPr>
        <p:txBody>
          <a:bodyPr/>
          <a:p/>
        </p:txBody>
      </p:sp>
      <p:sp>
        <p:nvSpPr>
          <p:cNvPr id="25" name="Text 23"/>
          <p:cNvSpPr txBox="1"/>
          <p:nvPr/>
        </p:nvSpPr>
        <p:spPr>
          <a:xfrm>
            <a:off x="7159752" y="1051560"/>
            <a:ext cx="1508760" cy="45720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26" name="Text 24"/>
          <p:cNvSpPr txBox="1"/>
          <p:nvPr/>
        </p:nvSpPr>
        <p:spPr>
          <a:xfrm>
            <a:off x="7114032" y="1600200"/>
            <a:ext cx="1600200" cy="411480"/>
          </a:xfrm>
          <a:prstGeom prst="rect">
            <a:avLst/>
          </a:prstGeom>
          <a:noFill/>
          <a:ln/>
        </p:spPr>
        <p:txBody>
          <a:bodyPr wrap="square" lIns="0" tIns="0" rIns="0" bIns="0" rtlCol="0" anchor="ctr"/>
          <a:lstStyle/>
          <a:p>
            <a:pPr marL="0" indent="0" algn="ctr">
              <a:buNone/>
            </a:pPr>
            <a:r>
              <a:rPr lang="en-US" sz="1200" b="1" dirty="0">
                <a:solidFill>
                  <a:srgbClr val="2E8B57"/>
                </a:solidFill>
                <a:latin typeface="Calibri" pitchFamily="34" charset="0"/>
                <a:ea typeface="Calibri" pitchFamily="34" charset="-122"/>
                <a:cs typeface="Calibri" pitchFamily="34" charset="-120"/>
              </a:rPr>
              <a:t>Respuesta</a:t>
            </a:r>
            <a:endParaRPr lang="en-US" sz="1200" dirty="0"/>
          </a:p>
        </p:txBody>
      </p:sp>
      <p:sp>
        <p:nvSpPr>
          <p:cNvPr id="27" name="Text 25"/>
          <p:cNvSpPr txBox="1"/>
          <p:nvPr/>
        </p:nvSpPr>
        <p:spPr>
          <a:xfrm>
            <a:off x="7114032" y="2057400"/>
            <a:ext cx="1600200" cy="2560320"/>
          </a:xfrm>
          <a:prstGeom prst="rect">
            <a:avLst/>
          </a:prstGeom>
          <a:noFill/>
          <a:ln/>
        </p:spPr>
        <p:txBody>
          <a:bodyPr wrap="square" lIns="0" tIns="0" rIns="0" bIns="0" rtlCol="0" anchor="ctr"/>
          <a:lstStyle/>
          <a:p>
            <a:pPr marL="0" indent="0" algn="l">
              <a:buNone/>
            </a:pPr>
            <a:r>
              <a:rPr lang="en-US" sz="1100" dirty="0">
                <a:solidFill>
                  <a:srgbClr val="1A1A1A"/>
                </a:solidFill>
                <a:latin typeface="Calibri" pitchFamily="34" charset="0"/>
                <a:ea typeface="Calibri" pitchFamily="34" charset="-122"/>
                <a:cs typeface="Calibri" pitchFamily="34" charset="-120"/>
              </a:rPr>
              <a:t>El agente arma la respuesta. Si un plato es casi idéntico, avisa que ya existe.</a:t>
            </a:r>
            <a:endParaRPr lang="en-US" sz="1100" dirty="0"/>
          </a:p>
        </p:txBody>
      </p:sp>
      <p:sp>
        <p:nvSpPr>
          <p:cNvPr id="28" name="Shape 26"/>
          <p:cNvSpPr/>
          <p:nvPr/>
        </p:nvSpPr>
        <p:spPr>
          <a:xfrm>
            <a:off x="320040" y="4617720"/>
            <a:ext cx="8503920" cy="384048"/>
          </a:xfrm>
          <a:prstGeom prst="roundRect">
            <a:avLst>
              <a:gd name="adj" fmla="val 14286"/>
            </a:avLst>
          </a:prstGeom>
          <a:solidFill>
            <a:srgbClr val="FFF8E6"/>
          </a:solidFill>
          <a:ln w="12700">
            <a:solidFill>
              <a:srgbClr val="E07B00"/>
            </a:solidFill>
            <a:prstDash val="solid"/>
          </a:ln>
        </p:spPr>
        <p:txBody>
          <a:bodyPr/>
          <a:p/>
        </p:txBody>
      </p:sp>
      <p:sp>
        <p:nvSpPr>
          <p:cNvPr id="29" name="Text 27"/>
          <p:cNvSpPr txBox="1"/>
          <p:nvPr/>
        </p:nvSpPr>
        <p:spPr>
          <a:xfrm>
            <a:off x="457200" y="4645152"/>
            <a:ext cx="8229600" cy="320040"/>
          </a:xfrm>
          <a:prstGeom prst="rect">
            <a:avLst/>
          </a:prstGeom>
          <a:noFill/>
          <a:ln/>
        </p:spPr>
        <p:txBody>
          <a:bodyPr wrap="square" lIns="0" tIns="0" rIns="0" bIns="0" rtlCol="0" anchor="ctr"/>
          <a:lstStyle/>
          <a:p>
            <a:pPr marL="0" indent="0">
              <a:buNone/>
            </a:pPr>
            <a:r>
              <a:rPr lang="en-US" sz="1200" b="1" dirty="0">
                <a:solidFill>
                  <a:srgbClr val="A05E00"/>
                </a:solidFill>
                <a:latin typeface="Calibri" pitchFamily="34" charset="0"/>
                <a:ea typeface="Calibri" pitchFamily="34" charset="-122"/>
                <a:cs typeface="Calibri" pitchFamily="34" charset="-120"/>
              </a:rPr>
              <a:t>💡 RAG = primero busca en mis datos y luego responde: el agente no inventa platos, usa los del catálogo</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E8F5EE"/>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5C38"/>
          </a:solidFill>
          <a:ln/>
        </p:spPr>
        <p:txBody>
          <a:bodyPr/>
          <a:p/>
        </p:txBody>
      </p:sp>
      <p:sp>
        <p:nvSpPr>
          <p:cNvPr id="3" name="Text 1"/>
          <p:cNvSpPr txBox="1"/>
          <p:nvPr/>
        </p:nvSpPr>
        <p:spPr>
          <a:xfrm>
            <a:off x="365760" y="91440"/>
            <a:ext cx="8229600" cy="7315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La Memoria del Agente</a:t>
            </a:r>
            <a:endParaRPr lang="en-US" sz="3000" dirty="0"/>
          </a:p>
        </p:txBody>
      </p:sp>
      <p:sp>
        <p:nvSpPr>
          <p:cNvPr id="4" name="Shape 2"/>
          <p:cNvSpPr/>
          <p:nvPr/>
        </p:nvSpPr>
        <p:spPr>
          <a:xfrm>
            <a:off x="320040" y="1051560"/>
            <a:ext cx="4114800" cy="3749040"/>
          </a:xfrm>
          <a:prstGeom prst="roundRect">
            <a:avLst>
              <a:gd name="adj" fmla="val 2439"/>
            </a:avLst>
          </a:prstGeom>
          <a:solidFill>
            <a:srgbClr val="FFFFFF"/>
          </a:solidFill>
          <a:ln w="12700">
            <a:solidFill>
              <a:srgbClr val="5BA4CF"/>
            </a:solidFill>
            <a:prstDash val="solid"/>
          </a:ln>
        </p:spPr>
        <p:txBody>
          <a:bodyPr/>
          <a:p/>
        </p:txBody>
      </p:sp>
      <p:sp>
        <p:nvSpPr>
          <p:cNvPr id="5" name="Shape 3"/>
          <p:cNvSpPr/>
          <p:nvPr/>
        </p:nvSpPr>
        <p:spPr>
          <a:xfrm>
            <a:off x="320040" y="1051560"/>
            <a:ext cx="4114800" cy="502920"/>
          </a:xfrm>
          <a:prstGeom prst="rect">
            <a:avLst/>
          </a:prstGeom>
          <a:solidFill>
            <a:srgbClr val="5BA4CF"/>
          </a:solidFill>
          <a:ln/>
        </p:spPr>
        <p:txBody>
          <a:bodyPr/>
          <a:p/>
        </p:txBody>
      </p:sp>
      <p:sp>
        <p:nvSpPr>
          <p:cNvPr id="6" name="Text 4"/>
          <p:cNvSpPr txBox="1"/>
          <p:nvPr/>
        </p:nvSpPr>
        <p:spPr>
          <a:xfrm>
            <a:off x="457200" y="1097280"/>
            <a:ext cx="3840480" cy="4114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  Corto plazo: la conversación</a:t>
            </a:r>
            <a:endParaRPr lang="en-US" sz="1400" dirty="0"/>
          </a:p>
        </p:txBody>
      </p:sp>
      <p:sp>
        <p:nvSpPr>
          <p:cNvPr id="7" name="Text 5"/>
          <p:cNvSpPr txBox="1"/>
          <p:nvPr/>
        </p:nvSpPr>
        <p:spPr>
          <a:xfrm>
            <a:off x="502920" y="1691640"/>
            <a:ext cx="3749040" cy="640080"/>
          </a:xfrm>
          <a:prstGeom prst="rect">
            <a:avLst/>
          </a:prstGeom>
          <a:noFill/>
          <a:ln/>
        </p:spPr>
        <p:txBody>
          <a:bodyPr wrap="square" lIns="0" tIns="0" rIns="0" bIns="0" rtlCol="0" anchor="ctr"/>
          <a:lstStyle/>
          <a:p>
            <a:pPr marL="0" indent="0">
              <a:buNone/>
            </a:pPr>
            <a:r>
              <a:rPr lang="en-US" sz="1200" dirty="0">
                <a:solidFill>
                  <a:srgbClr val="1A1A1A"/>
                </a:solidFill>
                <a:latin typeface="Calibri" pitchFamily="34" charset="0"/>
                <a:ea typeface="Calibri" pitchFamily="34" charset="-122"/>
                <a:cs typeface="Calibri" pitchFamily="34" charset="-120"/>
              </a:rPr>
              <a:t>›  Es lo que el agente recuerda mientras conversas: si dices «cámbialo por otro», sabe de qué plato hablas.</a:t>
            </a:r>
            <a:endParaRPr lang="en-US" sz="1200" dirty="0"/>
          </a:p>
        </p:txBody>
      </p:sp>
      <p:sp>
        <p:nvSpPr>
          <p:cNvPr id="8" name="Text 6"/>
          <p:cNvSpPr txBox="1"/>
          <p:nvPr/>
        </p:nvSpPr>
        <p:spPr>
          <a:xfrm>
            <a:off x="502920" y="2404872"/>
            <a:ext cx="3749040" cy="640080"/>
          </a:xfrm>
          <a:prstGeom prst="rect">
            <a:avLst/>
          </a:prstGeom>
          <a:noFill/>
          <a:ln/>
        </p:spPr>
        <p:txBody>
          <a:bodyPr wrap="square" lIns="0" tIns="0" rIns="0" bIns="0" rtlCol="0" anchor="ctr"/>
          <a:lstStyle/>
          <a:p>
            <a:pPr marL="0" indent="0">
              <a:buNone/>
            </a:pPr>
            <a:r>
              <a:rPr lang="en-US" sz="1200" dirty="0">
                <a:solidFill>
                  <a:srgbClr val="1A1A1A"/>
                </a:solidFill>
                <a:latin typeface="Calibri" pitchFamily="34" charset="0"/>
                <a:ea typeface="Calibri" pitchFamily="34" charset="-122"/>
                <a:cs typeface="Calibri" pitchFamily="34" charset="-120"/>
              </a:rPr>
              <a:t>›  La guarda MemorySaver (de LangGraph) en la memoria del servidor.</a:t>
            </a:r>
            <a:endParaRPr lang="en-US" sz="1200" dirty="0"/>
          </a:p>
        </p:txBody>
      </p:sp>
      <p:sp>
        <p:nvSpPr>
          <p:cNvPr id="9" name="Text 7"/>
          <p:cNvSpPr txBox="1"/>
          <p:nvPr/>
        </p:nvSpPr>
        <p:spPr>
          <a:xfrm>
            <a:off x="502920" y="3118104"/>
            <a:ext cx="3749040" cy="640080"/>
          </a:xfrm>
          <a:prstGeom prst="rect">
            <a:avLst/>
          </a:prstGeom>
          <a:noFill/>
          <a:ln/>
        </p:spPr>
        <p:txBody>
          <a:bodyPr wrap="square" lIns="0" tIns="0" rIns="0" bIns="0" rtlCol="0" anchor="ctr"/>
          <a:lstStyle/>
          <a:p>
            <a:pPr marL="0" indent="0">
              <a:buNone/>
            </a:pPr>
            <a:r>
              <a:rPr lang="en-US" sz="1200" dirty="0">
                <a:solidFill>
                  <a:srgbClr val="1A1A1A"/>
                </a:solidFill>
                <a:latin typeface="Calibri" pitchFamily="34" charset="0"/>
                <a:ea typeface="Calibri" pitchFamily="34" charset="-122"/>
                <a:cs typeface="Calibri" pitchFamily="34" charset="-120"/>
              </a:rPr>
              <a:t>›  Cada usuario tiene su propia conversación, separada de las demás.</a:t>
            </a:r>
            <a:endParaRPr lang="en-US" sz="1200" dirty="0"/>
          </a:p>
        </p:txBody>
      </p:sp>
      <p:sp>
        <p:nvSpPr>
          <p:cNvPr id="10" name="Text 8"/>
          <p:cNvSpPr txBox="1"/>
          <p:nvPr/>
        </p:nvSpPr>
        <p:spPr>
          <a:xfrm>
            <a:off x="502920" y="3831336"/>
            <a:ext cx="3749040" cy="640080"/>
          </a:xfrm>
          <a:prstGeom prst="rect">
            <a:avLst/>
          </a:prstGeom>
          <a:noFill/>
          <a:ln/>
        </p:spPr>
        <p:txBody>
          <a:bodyPr wrap="square" lIns="0" tIns="0" rIns="0" bIns="0" rtlCol="0" anchor="ctr"/>
          <a:lstStyle/>
          <a:p>
            <a:pPr marL="0" indent="0">
              <a:buNone/>
            </a:pPr>
            <a:r>
              <a:rPr lang="en-US" sz="1200" dirty="0">
                <a:solidFill>
                  <a:srgbClr val="1A1A1A"/>
                </a:solidFill>
                <a:latin typeface="Calibri" pitchFamily="34" charset="0"/>
                <a:ea typeface="Calibri" pitchFamily="34" charset="-122"/>
                <a:cs typeface="Calibri" pitchFamily="34" charset="-120"/>
              </a:rPr>
              <a:t>›  Al cerrar la página, esa conversación se olvida.</a:t>
            </a:r>
            <a:endParaRPr lang="en-US" sz="1200" dirty="0"/>
          </a:p>
        </p:txBody>
      </p:sp>
      <p:sp>
        <p:nvSpPr>
          <p:cNvPr id="11" name="Shape 9"/>
          <p:cNvSpPr/>
          <p:nvPr/>
        </p:nvSpPr>
        <p:spPr>
          <a:xfrm>
            <a:off x="4709160" y="1051560"/>
            <a:ext cx="4114800" cy="3749040"/>
          </a:xfrm>
          <a:prstGeom prst="roundRect">
            <a:avLst>
              <a:gd name="adj" fmla="val 2439"/>
            </a:avLst>
          </a:prstGeom>
          <a:solidFill>
            <a:srgbClr val="FFFFFF"/>
          </a:solidFill>
          <a:ln w="12700">
            <a:solidFill>
              <a:srgbClr val="E07B7B"/>
            </a:solidFill>
            <a:prstDash val="solid"/>
          </a:ln>
        </p:spPr>
        <p:txBody>
          <a:bodyPr/>
          <a:p/>
        </p:txBody>
      </p:sp>
      <p:sp>
        <p:nvSpPr>
          <p:cNvPr id="12" name="Shape 10"/>
          <p:cNvSpPr/>
          <p:nvPr/>
        </p:nvSpPr>
        <p:spPr>
          <a:xfrm>
            <a:off x="4709160" y="1051560"/>
            <a:ext cx="4114800" cy="502920"/>
          </a:xfrm>
          <a:prstGeom prst="rect">
            <a:avLst/>
          </a:prstGeom>
          <a:solidFill>
            <a:srgbClr val="E07B7B"/>
          </a:solidFill>
          <a:ln/>
        </p:spPr>
        <p:txBody>
          <a:bodyPr/>
          <a:p/>
        </p:txBody>
      </p:sp>
      <p:sp>
        <p:nvSpPr>
          <p:cNvPr id="13" name="Text 11"/>
          <p:cNvSpPr txBox="1"/>
          <p:nvPr/>
        </p:nvSpPr>
        <p:spPr>
          <a:xfrm>
            <a:off x="4846320" y="1097280"/>
            <a:ext cx="3840480" cy="4114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  Largo plazo: lo que queda guardado</a:t>
            </a:r>
            <a:endParaRPr lang="en-US" sz="1400" dirty="0"/>
          </a:p>
        </p:txBody>
      </p:sp>
      <p:sp>
        <p:nvSpPr>
          <p:cNvPr id="14" name="Text 12"/>
          <p:cNvSpPr txBox="1"/>
          <p:nvPr/>
        </p:nvSpPr>
        <p:spPr>
          <a:xfrm>
            <a:off x="4892040" y="1691640"/>
            <a:ext cx="3749040" cy="640080"/>
          </a:xfrm>
          <a:prstGeom prst="rect">
            <a:avLst/>
          </a:prstGeom>
          <a:noFill/>
          <a:ln/>
        </p:spPr>
        <p:txBody>
          <a:bodyPr wrap="square" lIns="0" tIns="0" rIns="0" bIns="0" rtlCol="0" anchor="ctr"/>
          <a:lstStyle/>
          <a:p>
            <a:pPr marL="0" indent="0">
              <a:buNone/>
            </a:pPr>
            <a:r>
              <a:rPr lang="en-US" sz="1200" dirty="0">
                <a:solidFill>
                  <a:srgbClr val="1A1A1A"/>
                </a:solidFill>
                <a:latin typeface="Calibri" pitchFamily="34" charset="0"/>
                <a:ea typeface="Calibri" pitchFamily="34" charset="-122"/>
                <a:cs typeface="Calibri" pitchFamily="34" charset="-120"/>
              </a:rPr>
              <a:t>›  Es lo que se conserva aunque se apague todo: vive en Azure SQL.</a:t>
            </a:r>
            <a:endParaRPr lang="en-US" sz="1200" dirty="0"/>
          </a:p>
        </p:txBody>
      </p:sp>
      <p:sp>
        <p:nvSpPr>
          <p:cNvPr id="15" name="Text 13"/>
          <p:cNvSpPr txBox="1"/>
          <p:nvPr/>
        </p:nvSpPr>
        <p:spPr>
          <a:xfrm>
            <a:off x="4892040" y="2404872"/>
            <a:ext cx="3749040" cy="640080"/>
          </a:xfrm>
          <a:prstGeom prst="rect">
            <a:avLst/>
          </a:prstGeom>
          <a:noFill/>
          <a:ln/>
        </p:spPr>
        <p:txBody>
          <a:bodyPr wrap="square" lIns="0" tIns="0" rIns="0" bIns="0" rtlCol="0" anchor="ctr"/>
          <a:lstStyle/>
          <a:p>
            <a:pPr marL="0" indent="0">
              <a:buNone/>
            </a:pPr>
            <a:r>
              <a:rPr lang="en-US" sz="1200" dirty="0">
                <a:solidFill>
                  <a:srgbClr val="1A1A1A"/>
                </a:solidFill>
                <a:latin typeface="Calibri" pitchFamily="34" charset="0"/>
                <a:ea typeface="Calibri" pitchFamily="34" charset="-122"/>
                <a:cs typeface="Calibri" pitchFamily="34" charset="-120"/>
              </a:rPr>
              <a:t>›  Los menús de cada día con su semáforo.</a:t>
            </a:r>
            <a:endParaRPr lang="en-US" sz="1200" dirty="0"/>
          </a:p>
        </p:txBody>
      </p:sp>
      <p:sp>
        <p:nvSpPr>
          <p:cNvPr id="16" name="Text 14"/>
          <p:cNvSpPr txBox="1"/>
          <p:nvPr/>
        </p:nvSpPr>
        <p:spPr>
          <a:xfrm>
            <a:off x="4892040" y="3118104"/>
            <a:ext cx="3749040" cy="640080"/>
          </a:xfrm>
          <a:prstGeom prst="rect">
            <a:avLst/>
          </a:prstGeom>
          <a:noFill/>
          <a:ln/>
        </p:spPr>
        <p:txBody>
          <a:bodyPr wrap="square" lIns="0" tIns="0" rIns="0" bIns="0" rtlCol="0" anchor="ctr"/>
          <a:lstStyle/>
          <a:p>
            <a:pPr marL="0" indent="0">
              <a:buNone/>
            </a:pPr>
            <a:r>
              <a:rPr lang="en-US" sz="1200" dirty="0">
                <a:solidFill>
                  <a:srgbClr val="1A1A1A"/>
                </a:solidFill>
                <a:latin typeface="Calibri" pitchFamily="34" charset="0"/>
                <a:ea typeface="Calibri" pitchFamily="34" charset="-122"/>
                <a:cs typeface="Calibri" pitchFamily="34" charset="-120"/>
              </a:rPr>
              <a:t>›  Los platos nuevos que registra el encargado.</a:t>
            </a:r>
            <a:endParaRPr lang="en-US" sz="1200" dirty="0"/>
          </a:p>
        </p:txBody>
      </p:sp>
      <p:sp>
        <p:nvSpPr>
          <p:cNvPr id="17" name="Text 15"/>
          <p:cNvSpPr txBox="1"/>
          <p:nvPr/>
        </p:nvSpPr>
        <p:spPr>
          <a:xfrm>
            <a:off x="4892040" y="3831336"/>
            <a:ext cx="3749040" cy="640080"/>
          </a:xfrm>
          <a:prstGeom prst="rect">
            <a:avLst/>
          </a:prstGeom>
          <a:noFill/>
          <a:ln/>
        </p:spPr>
        <p:txBody>
          <a:bodyPr wrap="square" lIns="0" tIns="0" rIns="0" bIns="0" rtlCol="0" anchor="ctr"/>
          <a:lstStyle/>
          <a:p>
            <a:pPr marL="0" indent="0">
              <a:buNone/>
            </a:pPr>
            <a:r>
              <a:rPr lang="en-US" sz="1200" dirty="0">
                <a:solidFill>
                  <a:srgbClr val="1A1A1A"/>
                </a:solidFill>
                <a:latin typeface="Calibri" pitchFamily="34" charset="0"/>
                <a:ea typeface="Calibri" pitchFamily="34" charset="-122"/>
                <a:cs typeface="Calibri" pitchFamily="34" charset="-120"/>
              </a:rPr>
              <a:t>›  La caché del semáforo: cada plato se clasifica una sola vez.</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2B1E"/>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2B1E"/>
          </a:solidFill>
          <a:ln/>
        </p:spPr>
      </p:sp>
      <p:sp>
        <p:nvSpPr>
          <p:cNvPr id="3" name="Shape 1"/>
          <p:cNvSpPr/>
          <p:nvPr/>
        </p:nvSpPr>
        <p:spPr>
          <a:xfrm>
            <a:off x="6858000" y="-457200"/>
            <a:ext cx="3200400" cy="3200400"/>
          </a:xfrm>
          <a:prstGeom prst="ellipse">
            <a:avLst/>
          </a:prstGeom>
          <a:solidFill>
            <a:srgbClr val="1A5C38"/>
          </a:solidFill>
          <a:ln/>
        </p:spPr>
      </p:sp>
      <p:sp>
        <p:nvSpPr>
          <p:cNvPr id="4" name="Shape 2"/>
          <p:cNvSpPr/>
          <p:nvPr/>
        </p:nvSpPr>
        <p:spPr>
          <a:xfrm>
            <a:off x="-731520" y="3200400"/>
            <a:ext cx="2286000" cy="2286000"/>
          </a:xfrm>
          <a:prstGeom prst="ellipse">
            <a:avLst/>
          </a:prstGeom>
          <a:solidFill>
            <a:srgbClr val="2E8B57"/>
          </a:solidFill>
          <a:ln/>
        </p:spPr>
      </p:sp>
      <p:sp>
        <p:nvSpPr>
          <p:cNvPr id="5" name="Text 3"/>
          <p:cNvSpPr txBox="1"/>
          <p:nvPr/>
        </p:nvSpPr>
        <p:spPr>
          <a:xfrm>
            <a:off x="914400" y="1097280"/>
            <a:ext cx="7315200" cy="914400"/>
          </a:xfrm>
          <a:prstGeom prst="rect">
            <a:avLst/>
          </a:prstGeom>
          <a:noFill/>
          <a:ln/>
        </p:spPr>
        <p:txBody>
          <a:bodyPr wrap="square" lIns="0" tIns="0" rIns="0" bIns="0" rtlCol="0" anchor="ctr"/>
          <a:lstStyle/>
          <a:p>
            <a:pPr marL="0" indent="0" algn="ctr">
              <a:buNone/>
            </a:pPr>
            <a:r>
              <a:rPr lang="en-US" sz="4800" b="1" dirty="0">
                <a:solidFill>
                  <a:srgbClr val="FFFFFF"/>
                </a:solidFill>
                <a:latin typeface="Cambria" pitchFamily="34" charset="0"/>
                <a:ea typeface="Cambria" pitchFamily="34" charset="-122"/>
                <a:cs typeface="Cambria" pitchFamily="34" charset="-120"/>
              </a:rPr>
              <a:t>NutriAgente</a:t>
            </a:r>
            <a:endParaRPr lang="en-US" sz="4800" dirty="0"/>
          </a:p>
        </p:txBody>
      </p:sp>
      <p:sp>
        <p:nvSpPr>
          <p:cNvPr id="6" name="Text 4"/>
          <p:cNvSpPr txBox="1"/>
          <p:nvPr/>
        </p:nvSpPr>
        <p:spPr>
          <a:xfrm>
            <a:off x="914400" y="2103120"/>
            <a:ext cx="7315200" cy="548640"/>
          </a:xfrm>
          <a:prstGeom prst="rect">
            <a:avLst/>
          </a:prstGeom>
          <a:noFill/>
          <a:ln/>
        </p:spPr>
        <p:txBody>
          <a:bodyPr wrap="square" lIns="0" tIns="0" rIns="0" bIns="0" rtlCol="0" anchor="ctr"/>
          <a:lstStyle/>
          <a:p>
            <a:pPr marL="0" indent="0" algn="ctr">
              <a:buNone/>
            </a:pPr>
            <a:r>
              <a:rPr lang="en-US" sz="1700" i="1" dirty="0">
                <a:solidFill>
                  <a:srgbClr val="A8D5BA"/>
                </a:solidFill>
                <a:latin typeface="Calibri" pitchFamily="34" charset="0"/>
                <a:ea typeface="Calibri" pitchFamily="34" charset="-122"/>
                <a:cs typeface="Calibri" pitchFamily="34" charset="-120"/>
              </a:rPr>
              <a:t>Un agente que come bien, para que tu equipo también pueda.</a:t>
            </a:r>
            <a:endParaRPr lang="en-US" sz="1700" dirty="0"/>
          </a:p>
        </p:txBody>
      </p:sp>
      <p:sp>
        <p:nvSpPr>
          <p:cNvPr id="7" name="Shape 5"/>
          <p:cNvSpPr/>
          <p:nvPr/>
        </p:nvSpPr>
        <p:spPr>
          <a:xfrm>
            <a:off x="3566160" y="3017520"/>
            <a:ext cx="502920" cy="502920"/>
          </a:xfrm>
          <a:prstGeom prst="ellipse">
            <a:avLst/>
          </a:prstGeom>
          <a:solidFill>
            <a:srgbClr val="2E8B57"/>
          </a:solidFill>
          <a:ln/>
        </p:spPr>
      </p:sp>
      <p:sp>
        <p:nvSpPr>
          <p:cNvPr id="8" name="Shape 6"/>
          <p:cNvSpPr/>
          <p:nvPr/>
        </p:nvSpPr>
        <p:spPr>
          <a:xfrm>
            <a:off x="4251960" y="3017520"/>
            <a:ext cx="502920" cy="502920"/>
          </a:xfrm>
          <a:prstGeom prst="ellipse">
            <a:avLst/>
          </a:prstGeom>
          <a:solidFill>
            <a:srgbClr val="E07B00"/>
          </a:solidFill>
          <a:ln/>
        </p:spPr>
      </p:sp>
      <p:sp>
        <p:nvSpPr>
          <p:cNvPr id="9" name="Shape 7"/>
          <p:cNvSpPr/>
          <p:nvPr/>
        </p:nvSpPr>
        <p:spPr>
          <a:xfrm>
            <a:off x="4937760" y="3017520"/>
            <a:ext cx="502920" cy="502920"/>
          </a:xfrm>
          <a:prstGeom prst="ellipse">
            <a:avLst/>
          </a:prstGeom>
          <a:solidFill>
            <a:srgbClr val="C0392B"/>
          </a:solidFill>
          <a:ln/>
        </p:spPr>
      </p:sp>
      <p:sp>
        <p:nvSpPr>
          <p:cNvPr id="10" name="Text 8"/>
          <p:cNvSpPr txBox="1"/>
          <p:nvPr/>
        </p:nvSpPr>
        <p:spPr>
          <a:xfrm>
            <a:off x="457200" y="4206240"/>
            <a:ext cx="8229600" cy="365760"/>
          </a:xfrm>
          <a:prstGeom prst="rect">
            <a:avLst/>
          </a:prstGeom>
          <a:noFill/>
          <a:ln/>
        </p:spPr>
        <p:txBody>
          <a:bodyPr wrap="square" lIns="0" tIns="0" rIns="0" bIns="0" rtlCol="0" anchor="ctr"/>
          <a:lstStyle/>
          <a:p>
            <a:pPr marL="0" indent="0" algn="ctr">
              <a:buNone/>
            </a:pPr>
            <a:r>
              <a:rPr lang="en-US" sz="1100" dirty="0">
                <a:solidFill>
                  <a:srgbClr val="5A7265"/>
                </a:solidFill>
                <a:latin typeface="Calibri" pitchFamily="34" charset="0"/>
                <a:ea typeface="Calibri" pitchFamily="34" charset="-122"/>
                <a:cs typeface="Calibri" pitchFamily="34" charset="-120"/>
              </a:rPr>
              <a:t>LangChain · LangGraph · LlamaIndex · Azure SQL · Cohere · Claude Haiku</a:t>
            </a:r>
            <a:endParaRPr lang="en-US" sz="1100"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8F5EE"/>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1A5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8229600" cy="731520"/>
          </a:xfrm>
          <a:prstGeom prst="rect">
            <a:avLst/>
          </a:prstGeom>
          <a:noFill/>
        </p:spPr>
        <p:txBody>
          <a:bodyPr wrap="square" lIns="0" rIns="0" tIns="0" bIns="0" anchor="ctr">
            <a:spAutoFit/>
          </a:bodyPr>
          <a:lstStyle/>
          <a:p>
            <a:pPr algn="l"/>
            <a:r>
              <a:rPr sz="3000" b="1" i="0">
                <a:solidFill>
                  <a:srgbClr val="FFFFFF"/>
                </a:solidFill>
                <a:latin typeface="Cambria"/>
              </a:rPr>
              <a:t>Ingeniería de Datos: Pipeline Offline</a:t>
            </a:r>
          </a:p>
        </p:txBody>
      </p:sp>
      <p:sp>
        <p:nvSpPr>
          <p:cNvPr id="4" name="Rounded Rectangle 3"/>
          <p:cNvSpPr/>
          <p:nvPr/>
        </p:nvSpPr>
        <p:spPr>
          <a:xfrm>
            <a:off x="320040" y="1051560"/>
            <a:ext cx="1188720" cy="1280160"/>
          </a:xfrm>
          <a:prstGeom prst="roundRect">
            <a:avLst>
              <a:gd name="adj" fmla="val 8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051560"/>
            <a:ext cx="1097280" cy="1280160"/>
          </a:xfrm>
          <a:prstGeom prst="rect">
            <a:avLst/>
          </a:prstGeom>
          <a:noFill/>
        </p:spPr>
        <p:txBody>
          <a:bodyPr wrap="square" lIns="0" rIns="0" tIns="0" bIns="0" anchor="ctr">
            <a:spAutoFit/>
          </a:bodyPr>
          <a:lstStyle/>
          <a:p>
            <a:pPr algn="ctr"/>
            <a:r>
              <a:rPr sz="1300" b="1" i="0">
                <a:solidFill>
                  <a:srgbClr val="FFFFFF"/>
                </a:solidFill>
                <a:latin typeface="Calibri"/>
              </a:rPr>
              <a:t>Archivo 1</a:t>
            </a:r>
          </a:p>
          <a:p>
            <a:pPr algn="ctr"/>
            <a:r>
              <a:rPr sz="1050" b="0" i="0">
                <a:solidFill>
                  <a:srgbClr val="FFFFFF"/>
                </a:solidFill>
                <a:latin typeface="Calibri"/>
              </a:rPr>
              <a:t>ETL</a:t>
            </a:r>
          </a:p>
        </p:txBody>
      </p:sp>
      <p:sp>
        <p:nvSpPr>
          <p:cNvPr id="6" name="Rounded Rectangle 5"/>
          <p:cNvSpPr/>
          <p:nvPr/>
        </p:nvSpPr>
        <p:spPr>
          <a:xfrm>
            <a:off x="1691640" y="1051560"/>
            <a:ext cx="1627632" cy="1280160"/>
          </a:xfrm>
          <a:prstGeom prst="roundRect">
            <a:avLst>
              <a:gd name="adj" fmla="val 5000"/>
            </a:avLst>
          </a:prstGeom>
          <a:solidFill>
            <a:srgbClr val="FFFFFF"/>
          </a:solidFill>
          <a:ln w="12700">
            <a:solidFill>
              <a:srgbClr val="C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783080" y="1143000"/>
            <a:ext cx="1444752" cy="274320"/>
          </a:xfrm>
          <a:prstGeom prst="rect">
            <a:avLst/>
          </a:prstGeom>
          <a:noFill/>
        </p:spPr>
        <p:txBody>
          <a:bodyPr wrap="square" lIns="0" rIns="0" tIns="0" bIns="0" anchor="t">
            <a:spAutoFit/>
          </a:bodyPr>
          <a:lstStyle/>
          <a:p>
            <a:pPr algn="l"/>
            <a:r>
              <a:rPr sz="1100" b="1" i="0">
                <a:solidFill>
                  <a:srgbClr val="1A5C38"/>
                </a:solidFill>
                <a:latin typeface="Calibri"/>
              </a:rPr>
              <a:t>📥 Fuentes</a:t>
            </a:r>
          </a:p>
        </p:txBody>
      </p:sp>
      <p:sp>
        <p:nvSpPr>
          <p:cNvPr id="8" name="TextBox 7"/>
          <p:cNvSpPr txBox="1"/>
          <p:nvPr/>
        </p:nvSpPr>
        <p:spPr>
          <a:xfrm>
            <a:off x="1783080" y="1463039"/>
            <a:ext cx="1444752" cy="822960"/>
          </a:xfrm>
          <a:prstGeom prst="rect">
            <a:avLst/>
          </a:prstGeom>
          <a:noFill/>
        </p:spPr>
        <p:txBody>
          <a:bodyPr wrap="square" lIns="0" rIns="0" tIns="0" bIns="0" anchor="t">
            <a:spAutoFit/>
          </a:bodyPr>
          <a:lstStyle/>
          <a:p>
            <a:pPr algn="l"/>
            <a:r>
              <a:rPr sz="1000" b="0" i="0">
                <a:solidFill>
                  <a:srgbClr val="1A1A1A"/>
                </a:solidFill>
                <a:latin typeface="Calibri"/>
              </a:rPr>
              <a:t>3 Excel del comedor + 2 PDF del MINSA</a:t>
            </a:r>
          </a:p>
        </p:txBody>
      </p:sp>
      <p:sp>
        <p:nvSpPr>
          <p:cNvPr id="9" name="Right Arrow 8"/>
          <p:cNvSpPr/>
          <p:nvPr/>
        </p:nvSpPr>
        <p:spPr>
          <a:xfrm>
            <a:off x="3346703" y="1581912"/>
            <a:ext cx="128016" cy="219456"/>
          </a:xfrm>
          <a:prstGeom prst="rightArrow">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502152" y="1051560"/>
            <a:ext cx="1627632" cy="1280160"/>
          </a:xfrm>
          <a:prstGeom prst="roundRect">
            <a:avLst>
              <a:gd name="adj" fmla="val 5000"/>
            </a:avLst>
          </a:prstGeom>
          <a:solidFill>
            <a:srgbClr val="FFFFFF"/>
          </a:solidFill>
          <a:ln w="12700">
            <a:solidFill>
              <a:srgbClr val="C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93592" y="1143000"/>
            <a:ext cx="1444752" cy="274320"/>
          </a:xfrm>
          <a:prstGeom prst="rect">
            <a:avLst/>
          </a:prstGeom>
          <a:noFill/>
        </p:spPr>
        <p:txBody>
          <a:bodyPr wrap="square" lIns="0" rIns="0" tIns="0" bIns="0" anchor="t">
            <a:spAutoFit/>
          </a:bodyPr>
          <a:lstStyle/>
          <a:p>
            <a:pPr algn="l"/>
            <a:r>
              <a:rPr sz="1100" b="1" i="0">
                <a:solidFill>
                  <a:srgbClr val="1A5C38"/>
                </a:solidFill>
                <a:latin typeface="Calibri"/>
              </a:rPr>
              <a:t>🔎 Extracción</a:t>
            </a:r>
          </a:p>
        </p:txBody>
      </p:sp>
      <p:sp>
        <p:nvSpPr>
          <p:cNvPr id="12" name="TextBox 11"/>
          <p:cNvSpPr txBox="1"/>
          <p:nvPr/>
        </p:nvSpPr>
        <p:spPr>
          <a:xfrm>
            <a:off x="3593592" y="1463039"/>
            <a:ext cx="1444752" cy="822960"/>
          </a:xfrm>
          <a:prstGeom prst="rect">
            <a:avLst/>
          </a:prstGeom>
          <a:noFill/>
        </p:spPr>
        <p:txBody>
          <a:bodyPr wrap="square" lIns="0" rIns="0" tIns="0" bIns="0" anchor="t">
            <a:spAutoFit/>
          </a:bodyPr>
          <a:lstStyle/>
          <a:p>
            <a:pPr algn="l"/>
            <a:r>
              <a:rPr sz="1000" b="0" i="0">
                <a:solidFill>
                  <a:srgbClr val="1A1A1A"/>
                </a:solidFill>
                <a:latin typeface="Calibri"/>
              </a:rPr>
              <a:t>openpyxl: parser por hoja · pdfplumber + regex</a:t>
            </a:r>
          </a:p>
        </p:txBody>
      </p:sp>
      <p:sp>
        <p:nvSpPr>
          <p:cNvPr id="13" name="Right Arrow 12"/>
          <p:cNvSpPr/>
          <p:nvPr/>
        </p:nvSpPr>
        <p:spPr>
          <a:xfrm>
            <a:off x="5157216" y="1581912"/>
            <a:ext cx="128016" cy="219456"/>
          </a:xfrm>
          <a:prstGeom prst="rightArrow">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312664" y="1051560"/>
            <a:ext cx="1627632" cy="1280160"/>
          </a:xfrm>
          <a:prstGeom prst="roundRect">
            <a:avLst>
              <a:gd name="adj" fmla="val 5000"/>
            </a:avLst>
          </a:prstGeom>
          <a:solidFill>
            <a:srgbClr val="FFFFFF"/>
          </a:solidFill>
          <a:ln w="12700">
            <a:solidFill>
              <a:srgbClr val="C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04104" y="1143000"/>
            <a:ext cx="1444752" cy="274320"/>
          </a:xfrm>
          <a:prstGeom prst="rect">
            <a:avLst/>
          </a:prstGeom>
          <a:noFill/>
        </p:spPr>
        <p:txBody>
          <a:bodyPr wrap="square" lIns="0" rIns="0" tIns="0" bIns="0" anchor="t">
            <a:spAutoFit/>
          </a:bodyPr>
          <a:lstStyle/>
          <a:p>
            <a:pPr algn="l"/>
            <a:r>
              <a:rPr sz="1100" b="1" i="0">
                <a:solidFill>
                  <a:srgbClr val="1A5C38"/>
                </a:solidFill>
                <a:latin typeface="Calibri"/>
              </a:rPr>
              <a:t>🧹 Transformación</a:t>
            </a:r>
          </a:p>
        </p:txBody>
      </p:sp>
      <p:sp>
        <p:nvSpPr>
          <p:cNvPr id="16" name="TextBox 15"/>
          <p:cNvSpPr txBox="1"/>
          <p:nvPr/>
        </p:nvSpPr>
        <p:spPr>
          <a:xfrm>
            <a:off x="5404104" y="1463039"/>
            <a:ext cx="1444752" cy="822960"/>
          </a:xfrm>
          <a:prstGeom prst="rect">
            <a:avLst/>
          </a:prstGeom>
          <a:noFill/>
        </p:spPr>
        <p:txBody>
          <a:bodyPr wrap="square" lIns="0" rIns="0" tIns="0" bIns="0" anchor="t">
            <a:spAutoFit/>
          </a:bodyPr>
          <a:lstStyle/>
          <a:p>
            <a:pPr algn="l"/>
            <a:r>
              <a:rPr sz="1000" b="0" i="0">
                <a:solidFill>
                  <a:srgbClr val="1A1A1A"/>
                </a:solidFill>
                <a:latin typeface="Calibri"/>
              </a:rPr>
              <a:t>Normalización · insumo, rol, turno · filtro de ruido</a:t>
            </a:r>
          </a:p>
        </p:txBody>
      </p:sp>
      <p:sp>
        <p:nvSpPr>
          <p:cNvPr id="17" name="Right Arrow 16"/>
          <p:cNvSpPr/>
          <p:nvPr/>
        </p:nvSpPr>
        <p:spPr>
          <a:xfrm>
            <a:off x="6967728" y="1581912"/>
            <a:ext cx="128016" cy="219456"/>
          </a:xfrm>
          <a:prstGeom prst="rightArrow">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123175" y="1051560"/>
            <a:ext cx="1627632" cy="1280160"/>
          </a:xfrm>
          <a:prstGeom prst="roundRect">
            <a:avLst>
              <a:gd name="adj" fmla="val 5000"/>
            </a:avLst>
          </a:prstGeom>
          <a:solidFill>
            <a:srgbClr val="FFFFFF"/>
          </a:solidFill>
          <a:ln w="12700">
            <a:solidFill>
              <a:srgbClr val="C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14615" y="1143000"/>
            <a:ext cx="1444752" cy="274320"/>
          </a:xfrm>
          <a:prstGeom prst="rect">
            <a:avLst/>
          </a:prstGeom>
          <a:noFill/>
        </p:spPr>
        <p:txBody>
          <a:bodyPr wrap="square" lIns="0" rIns="0" tIns="0" bIns="0" anchor="t">
            <a:spAutoFit/>
          </a:bodyPr>
          <a:lstStyle/>
          <a:p>
            <a:pPr algn="l"/>
            <a:r>
              <a:rPr sz="1100" b="1" i="0">
                <a:solidFill>
                  <a:srgbClr val="1A5C38"/>
                </a:solidFill>
                <a:latin typeface="Calibri"/>
              </a:rPr>
              <a:t>💾 Carga</a:t>
            </a:r>
          </a:p>
        </p:txBody>
      </p:sp>
      <p:sp>
        <p:nvSpPr>
          <p:cNvPr id="20" name="TextBox 19"/>
          <p:cNvSpPr txBox="1"/>
          <p:nvPr/>
        </p:nvSpPr>
        <p:spPr>
          <a:xfrm>
            <a:off x="7214615" y="1463039"/>
            <a:ext cx="1444752" cy="822960"/>
          </a:xfrm>
          <a:prstGeom prst="rect">
            <a:avLst/>
          </a:prstGeom>
          <a:noFill/>
        </p:spPr>
        <p:txBody>
          <a:bodyPr wrap="square" lIns="0" rIns="0" tIns="0" bIns="0" anchor="t">
            <a:spAutoFit/>
          </a:bodyPr>
          <a:lstStyle/>
          <a:p>
            <a:pPr algn="l"/>
            <a:r>
              <a:rPr sz="1000" b="0" i="0">
                <a:solidFill>
                  <a:srgbClr val="1A1A1A"/>
                </a:solidFill>
                <a:latin typeface="Calibri"/>
              </a:rPr>
              <a:t>−32 duplicados → platos_kb.json + reglas_semaforo.json</a:t>
            </a:r>
          </a:p>
        </p:txBody>
      </p:sp>
      <p:sp>
        <p:nvSpPr>
          <p:cNvPr id="21" name="Rounded Rectangle 20"/>
          <p:cNvSpPr/>
          <p:nvPr/>
        </p:nvSpPr>
        <p:spPr>
          <a:xfrm>
            <a:off x="320040" y="2514600"/>
            <a:ext cx="1188720" cy="1280160"/>
          </a:xfrm>
          <a:prstGeom prst="roundRect">
            <a:avLst>
              <a:gd name="adj" fmla="val 8000"/>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 y="2514600"/>
            <a:ext cx="1097280" cy="1280160"/>
          </a:xfrm>
          <a:prstGeom prst="rect">
            <a:avLst/>
          </a:prstGeom>
          <a:noFill/>
        </p:spPr>
        <p:txBody>
          <a:bodyPr wrap="square" lIns="0" rIns="0" tIns="0" bIns="0" anchor="ctr">
            <a:spAutoFit/>
          </a:bodyPr>
          <a:lstStyle/>
          <a:p>
            <a:pPr algn="ctr"/>
            <a:r>
              <a:rPr sz="1300" b="1" i="0">
                <a:solidFill>
                  <a:srgbClr val="FFFFFF"/>
                </a:solidFill>
                <a:latin typeface="Calibri"/>
              </a:rPr>
              <a:t>Archivo 2</a:t>
            </a:r>
          </a:p>
          <a:p>
            <a:pPr algn="ctr"/>
            <a:r>
              <a:rPr sz="1050" b="0" i="0">
                <a:solidFill>
                  <a:srgbClr val="FFFFFF"/>
                </a:solidFill>
                <a:latin typeface="Calibri"/>
              </a:rPr>
              <a:t>Indexación</a:t>
            </a:r>
          </a:p>
        </p:txBody>
      </p:sp>
      <p:sp>
        <p:nvSpPr>
          <p:cNvPr id="23" name="Rounded Rectangle 22"/>
          <p:cNvSpPr/>
          <p:nvPr/>
        </p:nvSpPr>
        <p:spPr>
          <a:xfrm>
            <a:off x="1691640" y="2514600"/>
            <a:ext cx="1627632" cy="1280160"/>
          </a:xfrm>
          <a:prstGeom prst="roundRect">
            <a:avLst>
              <a:gd name="adj" fmla="val 5000"/>
            </a:avLst>
          </a:prstGeom>
          <a:solidFill>
            <a:srgbClr val="FFFFFF"/>
          </a:solidFill>
          <a:ln w="12700">
            <a:solidFill>
              <a:srgbClr val="C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783080" y="2606040"/>
            <a:ext cx="1444752" cy="274320"/>
          </a:xfrm>
          <a:prstGeom prst="rect">
            <a:avLst/>
          </a:prstGeom>
          <a:noFill/>
        </p:spPr>
        <p:txBody>
          <a:bodyPr wrap="square" lIns="0" rIns="0" tIns="0" bIns="0" anchor="t">
            <a:spAutoFit/>
          </a:bodyPr>
          <a:lstStyle/>
          <a:p>
            <a:pPr algn="l"/>
            <a:r>
              <a:rPr sz="1100" b="1" i="0">
                <a:solidFill>
                  <a:srgbClr val="1A5C38"/>
                </a:solidFill>
                <a:latin typeface="Calibri"/>
              </a:rPr>
              <a:t>📂 Carga</a:t>
            </a:r>
          </a:p>
        </p:txBody>
      </p:sp>
      <p:sp>
        <p:nvSpPr>
          <p:cNvPr id="25" name="TextBox 24"/>
          <p:cNvSpPr txBox="1"/>
          <p:nvPr/>
        </p:nvSpPr>
        <p:spPr>
          <a:xfrm>
            <a:off x="1783080" y="2926080"/>
            <a:ext cx="1444752" cy="822960"/>
          </a:xfrm>
          <a:prstGeom prst="rect">
            <a:avLst/>
          </a:prstGeom>
          <a:noFill/>
        </p:spPr>
        <p:txBody>
          <a:bodyPr wrap="square" lIns="0" rIns="0" tIns="0" bIns="0" anchor="t">
            <a:spAutoFit/>
          </a:bodyPr>
          <a:lstStyle/>
          <a:p>
            <a:pPr algn="l"/>
            <a:r>
              <a:rPr sz="1000" b="0" i="0">
                <a:solidFill>
                  <a:srgbClr val="1A1A1A"/>
                </a:solidFill>
                <a:latin typeface="Calibri"/>
              </a:rPr>
              <a:t>JSON del Archivo 1 + PDFs completos (266 págs.)</a:t>
            </a:r>
          </a:p>
        </p:txBody>
      </p:sp>
      <p:sp>
        <p:nvSpPr>
          <p:cNvPr id="26" name="Right Arrow 25"/>
          <p:cNvSpPr/>
          <p:nvPr/>
        </p:nvSpPr>
        <p:spPr>
          <a:xfrm>
            <a:off x="3346703" y="3044952"/>
            <a:ext cx="128016" cy="219456"/>
          </a:xfrm>
          <a:prstGeom prst="rightArrow">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3502152" y="2514600"/>
            <a:ext cx="1627632" cy="1280160"/>
          </a:xfrm>
          <a:prstGeom prst="roundRect">
            <a:avLst>
              <a:gd name="adj" fmla="val 5000"/>
            </a:avLst>
          </a:prstGeom>
          <a:solidFill>
            <a:srgbClr val="FFFFFF"/>
          </a:solidFill>
          <a:ln w="12700">
            <a:solidFill>
              <a:srgbClr val="C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593592" y="2606040"/>
            <a:ext cx="1444752" cy="274320"/>
          </a:xfrm>
          <a:prstGeom prst="rect">
            <a:avLst/>
          </a:prstGeom>
          <a:noFill/>
        </p:spPr>
        <p:txBody>
          <a:bodyPr wrap="square" lIns="0" rIns="0" tIns="0" bIns="0" anchor="t">
            <a:spAutoFit/>
          </a:bodyPr>
          <a:lstStyle/>
          <a:p>
            <a:pPr algn="l"/>
            <a:r>
              <a:rPr sz="1100" b="1" i="0">
                <a:solidFill>
                  <a:srgbClr val="1A5C38"/>
                </a:solidFill>
                <a:latin typeface="Calibri"/>
              </a:rPr>
              <a:t>✂️ Fragmentación</a:t>
            </a:r>
          </a:p>
        </p:txBody>
      </p:sp>
      <p:sp>
        <p:nvSpPr>
          <p:cNvPr id="29" name="TextBox 28"/>
          <p:cNvSpPr txBox="1"/>
          <p:nvPr/>
        </p:nvSpPr>
        <p:spPr>
          <a:xfrm>
            <a:off x="3593592" y="2926080"/>
            <a:ext cx="1444752" cy="822960"/>
          </a:xfrm>
          <a:prstGeom prst="rect">
            <a:avLst/>
          </a:prstGeom>
          <a:noFill/>
        </p:spPr>
        <p:txBody>
          <a:bodyPr wrap="square" lIns="0" rIns="0" tIns="0" bIns="0" anchor="t">
            <a:spAutoFit/>
          </a:bodyPr>
          <a:lstStyle/>
          <a:p>
            <a:pPr algn="l"/>
            <a:r>
              <a:rPr sz="1000" b="0" i="0">
                <a:solidFill>
                  <a:srgbClr val="1A1A1A"/>
                </a:solidFill>
                <a:latin typeface="Calibri"/>
              </a:rPr>
              <a:t>1 plato = 1 nodo · PDFs en 512 tokens (solap. 50)</a:t>
            </a:r>
          </a:p>
        </p:txBody>
      </p:sp>
      <p:sp>
        <p:nvSpPr>
          <p:cNvPr id="30" name="Right Arrow 29"/>
          <p:cNvSpPr/>
          <p:nvPr/>
        </p:nvSpPr>
        <p:spPr>
          <a:xfrm>
            <a:off x="5157216" y="3044952"/>
            <a:ext cx="128016" cy="219456"/>
          </a:xfrm>
          <a:prstGeom prst="rightArrow">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5312664" y="2514600"/>
            <a:ext cx="1627632" cy="1280160"/>
          </a:xfrm>
          <a:prstGeom prst="roundRect">
            <a:avLst>
              <a:gd name="adj" fmla="val 5000"/>
            </a:avLst>
          </a:prstGeom>
          <a:solidFill>
            <a:srgbClr val="FFFFFF"/>
          </a:solidFill>
          <a:ln w="12700">
            <a:solidFill>
              <a:srgbClr val="C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04104" y="2606040"/>
            <a:ext cx="1444752" cy="274320"/>
          </a:xfrm>
          <a:prstGeom prst="rect">
            <a:avLst/>
          </a:prstGeom>
          <a:noFill/>
        </p:spPr>
        <p:txBody>
          <a:bodyPr wrap="square" lIns="0" rIns="0" tIns="0" bIns="0" anchor="t">
            <a:spAutoFit/>
          </a:bodyPr>
          <a:lstStyle/>
          <a:p>
            <a:pPr algn="l"/>
            <a:r>
              <a:rPr sz="1100" b="1" i="0">
                <a:solidFill>
                  <a:srgbClr val="1A5C38"/>
                </a:solidFill>
                <a:latin typeface="Calibri"/>
              </a:rPr>
              <a:t>🧮 Embeddings</a:t>
            </a:r>
          </a:p>
        </p:txBody>
      </p:sp>
      <p:sp>
        <p:nvSpPr>
          <p:cNvPr id="33" name="TextBox 32"/>
          <p:cNvSpPr txBox="1"/>
          <p:nvPr/>
        </p:nvSpPr>
        <p:spPr>
          <a:xfrm>
            <a:off x="5404104" y="2926080"/>
            <a:ext cx="1444752" cy="822960"/>
          </a:xfrm>
          <a:prstGeom prst="rect">
            <a:avLst/>
          </a:prstGeom>
          <a:noFill/>
        </p:spPr>
        <p:txBody>
          <a:bodyPr wrap="square" lIns="0" rIns="0" tIns="0" bIns="0" anchor="t">
            <a:spAutoFit/>
          </a:bodyPr>
          <a:lstStyle/>
          <a:p>
            <a:pPr algn="l"/>
            <a:r>
              <a:rPr sz="1000" b="0" i="0">
                <a:solidFill>
                  <a:srgbClr val="1A1A1A"/>
                </a:solidFill>
                <a:latin typeface="Calibri"/>
              </a:rPr>
              <a:t>Cohere multilingual v3 · 1024 dim · lotes de 200</a:t>
            </a:r>
          </a:p>
        </p:txBody>
      </p:sp>
      <p:sp>
        <p:nvSpPr>
          <p:cNvPr id="34" name="Right Arrow 33"/>
          <p:cNvSpPr/>
          <p:nvPr/>
        </p:nvSpPr>
        <p:spPr>
          <a:xfrm>
            <a:off x="6967728" y="3044952"/>
            <a:ext cx="128016" cy="219456"/>
          </a:xfrm>
          <a:prstGeom prst="rightArrow">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7123175" y="2514600"/>
            <a:ext cx="1627632" cy="1280160"/>
          </a:xfrm>
          <a:prstGeom prst="roundRect">
            <a:avLst>
              <a:gd name="adj" fmla="val 5000"/>
            </a:avLst>
          </a:prstGeom>
          <a:solidFill>
            <a:srgbClr val="FFFFFF"/>
          </a:solidFill>
          <a:ln w="12700">
            <a:solidFill>
              <a:srgbClr val="C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214615" y="2606040"/>
            <a:ext cx="1444752" cy="274320"/>
          </a:xfrm>
          <a:prstGeom prst="rect">
            <a:avLst/>
          </a:prstGeom>
          <a:noFill/>
        </p:spPr>
        <p:txBody>
          <a:bodyPr wrap="square" lIns="0" rIns="0" tIns="0" bIns="0" anchor="t">
            <a:spAutoFit/>
          </a:bodyPr>
          <a:lstStyle/>
          <a:p>
            <a:pPr algn="l"/>
            <a:r>
              <a:rPr sz="1100" b="1" i="0">
                <a:solidFill>
                  <a:srgbClr val="1A5C38"/>
                </a:solidFill>
                <a:latin typeface="Calibri"/>
              </a:rPr>
              <a:t>💾 Índice</a:t>
            </a:r>
          </a:p>
        </p:txBody>
      </p:sp>
      <p:sp>
        <p:nvSpPr>
          <p:cNvPr id="37" name="TextBox 36"/>
          <p:cNvSpPr txBox="1"/>
          <p:nvPr/>
        </p:nvSpPr>
        <p:spPr>
          <a:xfrm>
            <a:off x="7214615" y="2926080"/>
            <a:ext cx="1444752" cy="822960"/>
          </a:xfrm>
          <a:prstGeom prst="rect">
            <a:avLst/>
          </a:prstGeom>
          <a:noFill/>
        </p:spPr>
        <p:txBody>
          <a:bodyPr wrap="square" lIns="0" rIns="0" tIns="0" bIns="0" anchor="t">
            <a:spAutoFit/>
          </a:bodyPr>
          <a:lstStyle/>
          <a:p>
            <a:pPr algn="l"/>
            <a:r>
              <a:rPr sz="1000" b="0" i="0">
                <a:solidFill>
                  <a:srgbClr val="1A1A1A"/>
                </a:solidFill>
                <a:latin typeface="Calibri"/>
              </a:rPr>
              <a:t>SimpleVectorStore en disco · metadata filtrable</a:t>
            </a:r>
          </a:p>
        </p:txBody>
      </p:sp>
      <p:sp>
        <p:nvSpPr>
          <p:cNvPr id="38" name="Rounded Rectangle 37"/>
          <p:cNvSpPr/>
          <p:nvPr/>
        </p:nvSpPr>
        <p:spPr>
          <a:xfrm>
            <a:off x="320040" y="3977639"/>
            <a:ext cx="2011680" cy="822960"/>
          </a:xfrm>
          <a:prstGeom prst="roundRect">
            <a:avLst>
              <a:gd name="adj" fmla="val 5000"/>
            </a:avLst>
          </a:prstGeom>
          <a:solidFill>
            <a:srgbClr val="FFFFFF"/>
          </a:solidFill>
          <a:ln w="12700">
            <a:solidFill>
              <a:srgbClr val="C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11479" y="3995928"/>
            <a:ext cx="1828800" cy="411480"/>
          </a:xfrm>
          <a:prstGeom prst="rect">
            <a:avLst/>
          </a:prstGeom>
          <a:noFill/>
        </p:spPr>
        <p:txBody>
          <a:bodyPr wrap="square" lIns="0" rIns="0" tIns="0" bIns="0" anchor="ctr">
            <a:spAutoFit/>
          </a:bodyPr>
          <a:lstStyle/>
          <a:p>
            <a:pPr algn="ctr"/>
            <a:r>
              <a:rPr sz="2000" b="1" i="0">
                <a:solidFill>
                  <a:srgbClr val="1A5C38"/>
                </a:solidFill>
                <a:latin typeface="Cambria"/>
              </a:rPr>
              <a:t>512</a:t>
            </a:r>
          </a:p>
        </p:txBody>
      </p:sp>
      <p:sp>
        <p:nvSpPr>
          <p:cNvPr id="40" name="TextBox 39"/>
          <p:cNvSpPr txBox="1"/>
          <p:nvPr/>
        </p:nvSpPr>
        <p:spPr>
          <a:xfrm>
            <a:off x="411479" y="4389120"/>
            <a:ext cx="1828800" cy="384048"/>
          </a:xfrm>
          <a:prstGeom prst="rect">
            <a:avLst/>
          </a:prstGeom>
          <a:noFill/>
        </p:spPr>
        <p:txBody>
          <a:bodyPr wrap="square" lIns="0" rIns="0" tIns="0" bIns="0" anchor="t">
            <a:spAutoFit/>
          </a:bodyPr>
          <a:lstStyle/>
          <a:p>
            <a:pPr algn="ctr"/>
            <a:r>
              <a:rPr sz="950" b="0" i="0">
                <a:solidFill>
                  <a:srgbClr val="5A7265"/>
                </a:solidFill>
                <a:latin typeface="Calibri"/>
              </a:rPr>
              <a:t>platos únicos</a:t>
            </a:r>
          </a:p>
        </p:txBody>
      </p:sp>
      <p:sp>
        <p:nvSpPr>
          <p:cNvPr id="41" name="Rounded Rectangle 40"/>
          <p:cNvSpPr/>
          <p:nvPr/>
        </p:nvSpPr>
        <p:spPr>
          <a:xfrm>
            <a:off x="2478024" y="3977639"/>
            <a:ext cx="2011680" cy="822960"/>
          </a:xfrm>
          <a:prstGeom prst="roundRect">
            <a:avLst>
              <a:gd name="adj" fmla="val 5000"/>
            </a:avLst>
          </a:prstGeom>
          <a:solidFill>
            <a:srgbClr val="FFFFFF"/>
          </a:solidFill>
          <a:ln w="12700">
            <a:solidFill>
              <a:srgbClr val="C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569464" y="3995928"/>
            <a:ext cx="1828800" cy="411480"/>
          </a:xfrm>
          <a:prstGeom prst="rect">
            <a:avLst/>
          </a:prstGeom>
          <a:noFill/>
        </p:spPr>
        <p:txBody>
          <a:bodyPr wrap="square" lIns="0" rIns="0" tIns="0" bIns="0" anchor="ctr">
            <a:spAutoFit/>
          </a:bodyPr>
          <a:lstStyle/>
          <a:p>
            <a:pPr algn="ctr"/>
            <a:r>
              <a:rPr sz="2000" b="1" i="0">
                <a:solidFill>
                  <a:srgbClr val="1A5C38"/>
                </a:solidFill>
                <a:latin typeface="Cambria"/>
              </a:rPr>
              <a:t>829</a:t>
            </a:r>
          </a:p>
        </p:txBody>
      </p:sp>
      <p:sp>
        <p:nvSpPr>
          <p:cNvPr id="43" name="TextBox 42"/>
          <p:cNvSpPr txBox="1"/>
          <p:nvPr/>
        </p:nvSpPr>
        <p:spPr>
          <a:xfrm>
            <a:off x="2569464" y="4389120"/>
            <a:ext cx="1828800" cy="384048"/>
          </a:xfrm>
          <a:prstGeom prst="rect">
            <a:avLst/>
          </a:prstGeom>
          <a:noFill/>
        </p:spPr>
        <p:txBody>
          <a:bodyPr wrap="square" lIns="0" rIns="0" tIns="0" bIns="0" anchor="t">
            <a:spAutoFit/>
          </a:bodyPr>
          <a:lstStyle/>
          <a:p>
            <a:pPr algn="ctr"/>
            <a:r>
              <a:rPr sz="950" b="0" i="0">
                <a:solidFill>
                  <a:srgbClr val="5A7265"/>
                </a:solidFill>
                <a:latin typeface="Calibri"/>
              </a:rPr>
              <a:t>nodos vectorizados</a:t>
            </a:r>
          </a:p>
        </p:txBody>
      </p:sp>
      <p:sp>
        <p:nvSpPr>
          <p:cNvPr id="44" name="Rounded Rectangle 43"/>
          <p:cNvSpPr/>
          <p:nvPr/>
        </p:nvSpPr>
        <p:spPr>
          <a:xfrm>
            <a:off x="4636007" y="3977639"/>
            <a:ext cx="2011680" cy="822960"/>
          </a:xfrm>
          <a:prstGeom prst="roundRect">
            <a:avLst>
              <a:gd name="adj" fmla="val 5000"/>
            </a:avLst>
          </a:prstGeom>
          <a:solidFill>
            <a:srgbClr val="FFFFFF"/>
          </a:solidFill>
          <a:ln w="12700">
            <a:solidFill>
              <a:srgbClr val="C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727447" y="3995928"/>
            <a:ext cx="1828800" cy="411480"/>
          </a:xfrm>
          <a:prstGeom prst="rect">
            <a:avLst/>
          </a:prstGeom>
          <a:noFill/>
        </p:spPr>
        <p:txBody>
          <a:bodyPr wrap="square" lIns="0" rIns="0" tIns="0" bIns="0" anchor="ctr">
            <a:spAutoFit/>
          </a:bodyPr>
          <a:lstStyle/>
          <a:p>
            <a:pPr algn="ctr"/>
            <a:r>
              <a:rPr sz="2000" b="1" i="0">
                <a:solidFill>
                  <a:srgbClr val="1A5C38"/>
                </a:solidFill>
                <a:latin typeface="Cambria"/>
              </a:rPr>
              <a:t>1024</a:t>
            </a:r>
          </a:p>
        </p:txBody>
      </p:sp>
      <p:sp>
        <p:nvSpPr>
          <p:cNvPr id="46" name="TextBox 45"/>
          <p:cNvSpPr txBox="1"/>
          <p:nvPr/>
        </p:nvSpPr>
        <p:spPr>
          <a:xfrm>
            <a:off x="4727447" y="4389120"/>
            <a:ext cx="1828800" cy="384048"/>
          </a:xfrm>
          <a:prstGeom prst="rect">
            <a:avLst/>
          </a:prstGeom>
          <a:noFill/>
        </p:spPr>
        <p:txBody>
          <a:bodyPr wrap="square" lIns="0" rIns="0" tIns="0" bIns="0" anchor="t">
            <a:spAutoFit/>
          </a:bodyPr>
          <a:lstStyle/>
          <a:p>
            <a:pPr algn="ctr"/>
            <a:r>
              <a:rPr sz="950" b="0" i="0">
                <a:solidFill>
                  <a:srgbClr val="5A7265"/>
                </a:solidFill>
                <a:latin typeface="Calibri"/>
              </a:rPr>
              <a:t>dimensiones por vector</a:t>
            </a:r>
          </a:p>
        </p:txBody>
      </p:sp>
      <p:sp>
        <p:nvSpPr>
          <p:cNvPr id="47" name="Rounded Rectangle 46"/>
          <p:cNvSpPr/>
          <p:nvPr/>
        </p:nvSpPr>
        <p:spPr>
          <a:xfrm>
            <a:off x="6793992" y="3977639"/>
            <a:ext cx="2011680" cy="822960"/>
          </a:xfrm>
          <a:prstGeom prst="roundRect">
            <a:avLst>
              <a:gd name="adj" fmla="val 5000"/>
            </a:avLst>
          </a:prstGeom>
          <a:solidFill>
            <a:srgbClr val="FFFFFF"/>
          </a:solidFill>
          <a:ln w="12700">
            <a:solidFill>
              <a:srgbClr val="C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885431" y="3995928"/>
            <a:ext cx="1828800" cy="411480"/>
          </a:xfrm>
          <a:prstGeom prst="rect">
            <a:avLst/>
          </a:prstGeom>
          <a:noFill/>
        </p:spPr>
        <p:txBody>
          <a:bodyPr wrap="square" lIns="0" rIns="0" tIns="0" bIns="0" anchor="ctr">
            <a:spAutoFit/>
          </a:bodyPr>
          <a:lstStyle/>
          <a:p>
            <a:pPr algn="ctr"/>
            <a:r>
              <a:rPr sz="2000" b="1" i="0">
                <a:solidFill>
                  <a:srgbClr val="1A5C38"/>
                </a:solidFill>
                <a:latin typeface="Cambria"/>
              </a:rPr>
              <a:t>1 vez</a:t>
            </a:r>
          </a:p>
        </p:txBody>
      </p:sp>
      <p:sp>
        <p:nvSpPr>
          <p:cNvPr id="49" name="TextBox 48"/>
          <p:cNvSpPr txBox="1"/>
          <p:nvPr/>
        </p:nvSpPr>
        <p:spPr>
          <a:xfrm>
            <a:off x="6885431" y="4389120"/>
            <a:ext cx="1828800" cy="384048"/>
          </a:xfrm>
          <a:prstGeom prst="rect">
            <a:avLst/>
          </a:prstGeom>
          <a:noFill/>
        </p:spPr>
        <p:txBody>
          <a:bodyPr wrap="square" lIns="0" rIns="0" tIns="0" bIns="0" anchor="t">
            <a:spAutoFit/>
          </a:bodyPr>
          <a:lstStyle/>
          <a:p>
            <a:pPr algn="ctr"/>
            <a:r>
              <a:rPr sz="950" b="0" i="0">
                <a:solidFill>
                  <a:srgbClr val="5A7265"/>
                </a:solidFill>
                <a:latin typeface="Calibri"/>
              </a:rPr>
              <a:t>se ejecuta; el índice viaja en la imagen del MCP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8F5EE"/>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1A5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8229600" cy="731520"/>
          </a:xfrm>
          <a:prstGeom prst="rect">
            <a:avLst/>
          </a:prstGeom>
          <a:noFill/>
        </p:spPr>
        <p:txBody>
          <a:bodyPr wrap="square" lIns="0" rIns="0" tIns="0" bIns="0" anchor="ctr">
            <a:spAutoFit/>
          </a:bodyPr>
          <a:lstStyle/>
          <a:p>
            <a:pPr algn="l"/>
            <a:r>
              <a:rPr sz="3000" b="1" i="0">
                <a:solidFill>
                  <a:srgbClr val="FFFFFF"/>
                </a:solidFill>
                <a:latin typeface="Cambria"/>
              </a:rPr>
              <a:t>Seguridad y Costos</a:t>
            </a:r>
          </a:p>
        </p:txBody>
      </p:sp>
      <p:sp>
        <p:nvSpPr>
          <p:cNvPr id="4" name="Rounded Rectangle 3"/>
          <p:cNvSpPr/>
          <p:nvPr/>
        </p:nvSpPr>
        <p:spPr>
          <a:xfrm>
            <a:off x="320040" y="1051560"/>
            <a:ext cx="4114800" cy="3429000"/>
          </a:xfrm>
          <a:prstGeom prst="roundRect">
            <a:avLst>
              <a:gd name="adj" fmla="val 5000"/>
            </a:avLst>
          </a:prstGeom>
          <a:solidFill>
            <a:srgbClr val="FFFFFF"/>
          </a:solidFill>
          <a:ln w="12700">
            <a:solidFill>
              <a:srgbClr val="C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20040" y="1051560"/>
            <a:ext cx="4114800" cy="411480"/>
          </a:xfrm>
          <a:prstGeom prst="roundRect">
            <a:avLst>
              <a:gd name="adj" fmla="val 1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280160"/>
            <a:ext cx="4114800" cy="18288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29768" y="1051560"/>
            <a:ext cx="3895344" cy="411480"/>
          </a:xfrm>
          <a:prstGeom prst="rect">
            <a:avLst/>
          </a:prstGeom>
          <a:noFill/>
        </p:spPr>
        <p:txBody>
          <a:bodyPr wrap="square" lIns="0" rIns="0" tIns="0" bIns="0" anchor="ctr">
            <a:spAutoFit/>
          </a:bodyPr>
          <a:lstStyle/>
          <a:p>
            <a:pPr algn="l"/>
            <a:r>
              <a:rPr sz="1300" b="1" i="0">
                <a:solidFill>
                  <a:srgbClr val="FFFFFF"/>
                </a:solidFill>
                <a:latin typeface="Calibri"/>
              </a:rPr>
              <a:t>🔐  Seguridad y control</a:t>
            </a:r>
          </a:p>
        </p:txBody>
      </p:sp>
      <p:sp>
        <p:nvSpPr>
          <p:cNvPr id="8" name="TextBox 7"/>
          <p:cNvSpPr txBox="1"/>
          <p:nvPr/>
        </p:nvSpPr>
        <p:spPr>
          <a:xfrm>
            <a:off x="457200" y="1600200"/>
            <a:ext cx="3840480" cy="3154680"/>
          </a:xfrm>
          <a:prstGeom prst="rect">
            <a:avLst/>
          </a:prstGeom>
          <a:noFill/>
        </p:spPr>
        <p:txBody>
          <a:bodyPr wrap="square" lIns="0" rIns="0" tIns="0" bIns="0" anchor="t">
            <a:spAutoFit/>
          </a:bodyPr>
          <a:lstStyle/>
          <a:p>
            <a:pPr algn="l">
              <a:spcAft>
                <a:spcPts val="900"/>
              </a:spcAft>
            </a:pPr>
            <a:r>
              <a:rPr sz="1250" b="0" i="0">
                <a:solidFill>
                  <a:srgbClr val="1A1A1A"/>
                </a:solidFill>
                <a:latin typeface="Calibri"/>
              </a:rPr>
              <a:t>›  Secretos (API keys, conexión SQL) en variables de entorno, nunca en el código</a:t>
            </a:r>
          </a:p>
          <a:p>
            <a:pPr algn="l">
              <a:spcAft>
                <a:spcPts val="900"/>
              </a:spcAft>
            </a:pPr>
            <a:r>
              <a:rPr sz="1250" b="0" i="0">
                <a:solidFill>
                  <a:srgbClr val="1A1A1A"/>
                </a:solidFill>
                <a:latin typeface="Calibri"/>
              </a:rPr>
              <a:t>›  El LLM no escribe SQL: solo usa 6 tools con consultas parametrizadas</a:t>
            </a:r>
          </a:p>
          <a:p>
            <a:pPr algn="l">
              <a:spcAft>
                <a:spcPts val="900"/>
              </a:spcAft>
            </a:pPr>
            <a:r>
              <a:rPr sz="1250" b="0" i="0">
                <a:solidFill>
                  <a:srgbClr val="1A1A1A"/>
                </a:solidFill>
                <a:latin typeface="Calibri"/>
              </a:rPr>
              <a:t>›  Cada dato que envía el modelo se revisa antes de usarse (fechas, días, campos)</a:t>
            </a:r>
          </a:p>
          <a:p>
            <a:pPr algn="l">
              <a:spcAft>
                <a:spcPts val="900"/>
              </a:spcAft>
            </a:pPr>
            <a:r>
              <a:rPr sz="1250" b="0" i="0">
                <a:solidFill>
                  <a:srgbClr val="1A1A1A"/>
                </a:solidFill>
                <a:latin typeface="Calibri"/>
              </a:rPr>
              <a:t>›  Confirmación humana: regenerar un menú o registrar un plato parecido</a:t>
            </a:r>
          </a:p>
          <a:p>
            <a:pPr algn="l">
              <a:spcAft>
                <a:spcPts val="900"/>
              </a:spcAft>
            </a:pPr>
            <a:r>
              <a:rPr sz="1250" b="0" i="0">
                <a:solidFill>
                  <a:srgbClr val="1A1A1A"/>
                </a:solidFill>
                <a:latin typeface="Calibri"/>
              </a:rPr>
              <a:t>›  Trazas de cada llamada en LangSmith</a:t>
            </a:r>
          </a:p>
        </p:txBody>
      </p:sp>
      <p:sp>
        <p:nvSpPr>
          <p:cNvPr id="9" name="Rounded Rectangle 8"/>
          <p:cNvSpPr/>
          <p:nvPr/>
        </p:nvSpPr>
        <p:spPr>
          <a:xfrm>
            <a:off x="4709160" y="1051560"/>
            <a:ext cx="4114800" cy="3429000"/>
          </a:xfrm>
          <a:prstGeom prst="roundRect">
            <a:avLst>
              <a:gd name="adj" fmla="val 5000"/>
            </a:avLst>
          </a:prstGeom>
          <a:solidFill>
            <a:srgbClr val="FFFFFF"/>
          </a:solidFill>
          <a:ln w="12700">
            <a:solidFill>
              <a:srgbClr val="C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709160" y="1051560"/>
            <a:ext cx="4114800" cy="411480"/>
          </a:xfrm>
          <a:prstGeom prst="roundRect">
            <a:avLst>
              <a:gd name="adj" fmla="val 12000"/>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709160" y="1280160"/>
            <a:ext cx="4114800" cy="182880"/>
          </a:xfrm>
          <a:prstGeom prst="rect">
            <a:avLst/>
          </a:prstGeom>
          <a:solidFill>
            <a:srgbClr val="E07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18888" y="1051560"/>
            <a:ext cx="3895344" cy="411480"/>
          </a:xfrm>
          <a:prstGeom prst="rect">
            <a:avLst/>
          </a:prstGeom>
          <a:noFill/>
        </p:spPr>
        <p:txBody>
          <a:bodyPr wrap="square" lIns="0" rIns="0" tIns="0" bIns="0" anchor="ctr">
            <a:spAutoFit/>
          </a:bodyPr>
          <a:lstStyle/>
          <a:p>
            <a:pPr algn="l"/>
            <a:r>
              <a:rPr sz="1300" b="1" i="0">
                <a:solidFill>
                  <a:srgbClr val="FFFFFF"/>
                </a:solidFill>
                <a:latin typeface="Calibri"/>
              </a:rPr>
              <a:t>💰  Decisiones de costo</a:t>
            </a:r>
          </a:p>
        </p:txBody>
      </p:sp>
      <p:sp>
        <p:nvSpPr>
          <p:cNvPr id="13" name="TextBox 12"/>
          <p:cNvSpPr txBox="1"/>
          <p:nvPr/>
        </p:nvSpPr>
        <p:spPr>
          <a:xfrm>
            <a:off x="4846320" y="1600200"/>
            <a:ext cx="3840480" cy="3154680"/>
          </a:xfrm>
          <a:prstGeom prst="rect">
            <a:avLst/>
          </a:prstGeom>
          <a:noFill/>
        </p:spPr>
        <p:txBody>
          <a:bodyPr wrap="square" lIns="0" rIns="0" tIns="0" bIns="0" anchor="t">
            <a:spAutoFit/>
          </a:bodyPr>
          <a:lstStyle/>
          <a:p>
            <a:pPr algn="l">
              <a:spcAft>
                <a:spcPts val="900"/>
              </a:spcAft>
            </a:pPr>
            <a:r>
              <a:rPr sz="1250" b="0" i="0">
                <a:solidFill>
                  <a:srgbClr val="1A1A1A"/>
                </a:solidFill>
                <a:latin typeface="Calibri"/>
              </a:rPr>
              <a:t>›  Claude Haiku 4.5: modelo ligero, temperatura 0</a:t>
            </a:r>
          </a:p>
          <a:p>
            <a:pPr algn="l">
              <a:spcAft>
                <a:spcPts val="900"/>
              </a:spcAft>
            </a:pPr>
            <a:r>
              <a:rPr sz="1250" b="0" i="0">
                <a:solidFill>
                  <a:srgbClr val="1A1A1A"/>
                </a:solidFill>
                <a:latin typeface="Calibri"/>
              </a:rPr>
              <a:t>›  Índice guardado en disco: sin pagar una base vectorial aparte</a:t>
            </a:r>
          </a:p>
          <a:p>
            <a:pPr algn="l">
              <a:spcAft>
                <a:spcPts val="900"/>
              </a:spcAft>
            </a:pPr>
            <a:r>
              <a:rPr sz="1250" b="0" i="0">
                <a:solidFill>
                  <a:srgbClr val="1A1A1A"/>
                </a:solidFill>
                <a:latin typeface="Calibri"/>
              </a:rPr>
              <a:t>›  Caché del semáforo: cada plato se clasifica una sola vez</a:t>
            </a:r>
          </a:p>
          <a:p>
            <a:pPr algn="l">
              <a:spcAft>
                <a:spcPts val="900"/>
              </a:spcAft>
            </a:pPr>
            <a:r>
              <a:rPr sz="1250" b="0" i="0">
                <a:solidFill>
                  <a:srgbClr val="1A1A1A"/>
                </a:solidFill>
                <a:latin typeface="Calibri"/>
              </a:rPr>
              <a:t>›  El menú lo arma un algoritmo greedy: 0 tokens</a:t>
            </a:r>
          </a:p>
          <a:p>
            <a:pPr algn="l">
              <a:spcAft>
                <a:spcPts val="900"/>
              </a:spcAft>
            </a:pPr>
            <a:r>
              <a:rPr sz="1250" b="0" i="0">
                <a:solidFill>
                  <a:srgbClr val="1A1A1A"/>
                </a:solidFill>
                <a:latin typeface="Calibri"/>
              </a:rPr>
              <a:t>›  Container Apps escala a 0 y Azure SQL (serverless) se pausa sola sin uso</a:t>
            </a:r>
          </a:p>
        </p:txBody>
      </p:sp>
      <p:sp>
        <p:nvSpPr>
          <p:cNvPr id="14" name="Rounded Rectangle 13"/>
          <p:cNvSpPr/>
          <p:nvPr/>
        </p:nvSpPr>
        <p:spPr>
          <a:xfrm>
            <a:off x="4846320" y="3703320"/>
            <a:ext cx="3840480" cy="640080"/>
          </a:xfrm>
          <a:prstGeom prst="roundRect">
            <a:avLst>
              <a:gd name="adj" fmla="val 12000"/>
            </a:avLst>
          </a:prstGeom>
          <a:solidFill>
            <a:srgbClr val="FFF8E6"/>
          </a:solidFill>
          <a:ln w="12700">
            <a:solidFill>
              <a:srgbClr val="E07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37760" y="3703320"/>
            <a:ext cx="3657600" cy="640080"/>
          </a:xfrm>
          <a:prstGeom prst="rect">
            <a:avLst/>
          </a:prstGeom>
          <a:noFill/>
        </p:spPr>
        <p:txBody>
          <a:bodyPr wrap="square" lIns="0" rIns="0" tIns="0" bIns="0" anchor="ctr">
            <a:spAutoFit/>
          </a:bodyPr>
          <a:lstStyle/>
          <a:p>
            <a:pPr algn="l"/>
            <a:r>
              <a:rPr sz="1050" b="1" i="0">
                <a:solidFill>
                  <a:srgbClr val="A05E00"/>
                </a:solidFill>
                <a:latin typeface="Calibri"/>
              </a:rPr>
              <a:t>Costo real en Azure: ≈ US$0.56 al día</a:t>
            </a:r>
          </a:p>
          <a:p>
            <a:pPr algn="l"/>
            <a:r>
              <a:rPr sz="1050" b="0" i="0">
                <a:solidFill>
                  <a:srgbClr val="A05E00"/>
                </a:solidFill>
                <a:latin typeface="Calibri"/>
              </a:rPr>
              <a:t>Container Registry + Azure SQL · Container Apps: $0 (se apaga sin uso)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E8F5EE"/>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1A5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8229600" cy="731520"/>
          </a:xfrm>
          <a:prstGeom prst="rect">
            <a:avLst/>
          </a:prstGeom>
          <a:noFill/>
        </p:spPr>
        <p:txBody>
          <a:bodyPr wrap="square" lIns="0" rIns="0" tIns="0" bIns="0" anchor="ctr">
            <a:spAutoFit/>
          </a:bodyPr>
          <a:lstStyle/>
          <a:p>
            <a:pPr algn="l"/>
            <a:r>
              <a:rPr sz="3000" b="1" i="0">
                <a:solidFill>
                  <a:srgbClr val="FFFFFF"/>
                </a:solidFill>
                <a:latin typeface="Cambria"/>
              </a:rPr>
              <a:t>Demo en Vivo</a:t>
            </a:r>
          </a:p>
        </p:txBody>
      </p:sp>
      <p:sp>
        <p:nvSpPr>
          <p:cNvPr id="4" name="Rounded Rectangle 3"/>
          <p:cNvSpPr/>
          <p:nvPr/>
        </p:nvSpPr>
        <p:spPr>
          <a:xfrm>
            <a:off x="320040" y="1051560"/>
            <a:ext cx="5486400" cy="603504"/>
          </a:xfrm>
          <a:prstGeom prst="roundRect">
            <a:avLst>
              <a:gd name="adj" fmla="val 5000"/>
            </a:avLst>
          </a:prstGeom>
          <a:solidFill>
            <a:srgbClr val="FFFFFF"/>
          </a:solidFill>
          <a:ln w="12700">
            <a:solidFill>
              <a:srgbClr val="C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438912" y="1179576"/>
            <a:ext cx="347472" cy="347472"/>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38912" y="1179576"/>
            <a:ext cx="347472" cy="347472"/>
          </a:xfrm>
          <a:prstGeom prst="rect">
            <a:avLst/>
          </a:prstGeom>
          <a:noFill/>
        </p:spPr>
        <p:txBody>
          <a:bodyPr wrap="square" lIns="0" rIns="0" tIns="0" bIns="0" anchor="ctr">
            <a:spAutoFit/>
          </a:bodyPr>
          <a:lstStyle/>
          <a:p>
            <a:pPr algn="ctr"/>
            <a:r>
              <a:rPr sz="1100" b="1" i="0">
                <a:solidFill>
                  <a:srgbClr val="FFFFFF"/>
                </a:solidFill>
                <a:latin typeface="Calibri"/>
              </a:rPr>
              <a:t>1</a:t>
            </a:r>
          </a:p>
        </p:txBody>
      </p:sp>
      <p:sp>
        <p:nvSpPr>
          <p:cNvPr id="7" name="TextBox 6"/>
          <p:cNvSpPr txBox="1"/>
          <p:nvPr/>
        </p:nvSpPr>
        <p:spPr>
          <a:xfrm>
            <a:off x="914400" y="1106424"/>
            <a:ext cx="4800600" cy="237744"/>
          </a:xfrm>
          <a:prstGeom prst="rect">
            <a:avLst/>
          </a:prstGeom>
          <a:noFill/>
        </p:spPr>
        <p:txBody>
          <a:bodyPr wrap="square" lIns="0" rIns="0" tIns="0" bIns="0" anchor="t">
            <a:spAutoFit/>
          </a:bodyPr>
          <a:lstStyle/>
          <a:p>
            <a:pPr algn="l"/>
            <a:r>
              <a:rPr sz="1200" b="1" i="0">
                <a:solidFill>
                  <a:srgbClr val="1A5C38"/>
                </a:solidFill>
                <a:latin typeface="Calibri"/>
              </a:rPr>
              <a:t>💬 Chat</a:t>
            </a:r>
          </a:p>
        </p:txBody>
      </p:sp>
      <p:sp>
        <p:nvSpPr>
          <p:cNvPr id="8" name="TextBox 7"/>
          <p:cNvSpPr txBox="1"/>
          <p:nvPr/>
        </p:nvSpPr>
        <p:spPr>
          <a:xfrm>
            <a:off x="914400" y="1353312"/>
            <a:ext cx="4800600" cy="274320"/>
          </a:xfrm>
          <a:prstGeom prst="rect">
            <a:avLst/>
          </a:prstGeom>
          <a:noFill/>
        </p:spPr>
        <p:txBody>
          <a:bodyPr wrap="square" lIns="0" rIns="0" tIns="0" bIns="0" anchor="t">
            <a:spAutoFit/>
          </a:bodyPr>
          <a:lstStyle/>
          <a:p>
            <a:pPr algn="l"/>
            <a:r>
              <a:rPr sz="1050" b="0" i="0">
                <a:solidFill>
                  <a:srgbClr val="1A1A1A"/>
                </a:solidFill>
                <a:latin typeface="Calibri"/>
              </a:rPr>
              <a:t>«búscame algo con pollo» → búsqueda semántica en el índice</a:t>
            </a:r>
          </a:p>
        </p:txBody>
      </p:sp>
      <p:sp>
        <p:nvSpPr>
          <p:cNvPr id="9" name="Rounded Rectangle 8"/>
          <p:cNvSpPr/>
          <p:nvPr/>
        </p:nvSpPr>
        <p:spPr>
          <a:xfrm>
            <a:off x="320040" y="1764792"/>
            <a:ext cx="5486400" cy="603504"/>
          </a:xfrm>
          <a:prstGeom prst="roundRect">
            <a:avLst>
              <a:gd name="adj" fmla="val 5000"/>
            </a:avLst>
          </a:prstGeom>
          <a:solidFill>
            <a:srgbClr val="FFFFFF"/>
          </a:solidFill>
          <a:ln w="12700">
            <a:solidFill>
              <a:srgbClr val="C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38912" y="1892807"/>
            <a:ext cx="347472" cy="347472"/>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 y="1892807"/>
            <a:ext cx="347472" cy="347472"/>
          </a:xfrm>
          <a:prstGeom prst="rect">
            <a:avLst/>
          </a:prstGeom>
          <a:noFill/>
        </p:spPr>
        <p:txBody>
          <a:bodyPr wrap="square" lIns="0" rIns="0" tIns="0" bIns="0" anchor="ctr">
            <a:spAutoFit/>
          </a:bodyPr>
          <a:lstStyle/>
          <a:p>
            <a:pPr algn="ctr"/>
            <a:r>
              <a:rPr sz="1100" b="1" i="0">
                <a:solidFill>
                  <a:srgbClr val="FFFFFF"/>
                </a:solidFill>
                <a:latin typeface="Calibri"/>
              </a:rPr>
              <a:t>2</a:t>
            </a:r>
          </a:p>
        </p:txBody>
      </p:sp>
      <p:sp>
        <p:nvSpPr>
          <p:cNvPr id="12" name="TextBox 11"/>
          <p:cNvSpPr txBox="1"/>
          <p:nvPr/>
        </p:nvSpPr>
        <p:spPr>
          <a:xfrm>
            <a:off x="914400" y="1819656"/>
            <a:ext cx="4800600" cy="237744"/>
          </a:xfrm>
          <a:prstGeom prst="rect">
            <a:avLst/>
          </a:prstGeom>
          <a:noFill/>
        </p:spPr>
        <p:txBody>
          <a:bodyPr wrap="square" lIns="0" rIns="0" tIns="0" bIns="0" anchor="t">
            <a:spAutoFit/>
          </a:bodyPr>
          <a:lstStyle/>
          <a:p>
            <a:pPr algn="l"/>
            <a:r>
              <a:rPr sz="1200" b="1" i="0">
                <a:solidFill>
                  <a:srgbClr val="1A5C38"/>
                </a:solidFill>
                <a:latin typeface="Calibri"/>
              </a:rPr>
              <a:t>🚦 Semáforo</a:t>
            </a:r>
          </a:p>
        </p:txBody>
      </p:sp>
      <p:sp>
        <p:nvSpPr>
          <p:cNvPr id="13" name="TextBox 12"/>
          <p:cNvSpPr txBox="1"/>
          <p:nvPr/>
        </p:nvSpPr>
        <p:spPr>
          <a:xfrm>
            <a:off x="914400" y="2066543"/>
            <a:ext cx="4800600" cy="274320"/>
          </a:xfrm>
          <a:prstGeom prst="rect">
            <a:avLst/>
          </a:prstGeom>
          <a:noFill/>
        </p:spPr>
        <p:txBody>
          <a:bodyPr wrap="square" lIns="0" rIns="0" tIns="0" bIns="0" anchor="t">
            <a:spAutoFit/>
          </a:bodyPr>
          <a:lstStyle/>
          <a:p>
            <a:pPr algn="l"/>
            <a:r>
              <a:rPr sz="1050" b="0" i="0">
                <a:solidFill>
                  <a:srgbClr val="1A1A1A"/>
                </a:solidFill>
                <a:latin typeface="Calibri"/>
              </a:rPr>
              <a:t>Clasificar «Lomo saltado con arroz y papas fritas»</a:t>
            </a:r>
          </a:p>
        </p:txBody>
      </p:sp>
      <p:sp>
        <p:nvSpPr>
          <p:cNvPr id="14" name="Rounded Rectangle 13"/>
          <p:cNvSpPr/>
          <p:nvPr/>
        </p:nvSpPr>
        <p:spPr>
          <a:xfrm>
            <a:off x="320040" y="2478024"/>
            <a:ext cx="5486400" cy="603504"/>
          </a:xfrm>
          <a:prstGeom prst="roundRect">
            <a:avLst>
              <a:gd name="adj" fmla="val 5000"/>
            </a:avLst>
          </a:prstGeom>
          <a:solidFill>
            <a:srgbClr val="FFFFFF"/>
          </a:solidFill>
          <a:ln w="12700">
            <a:solidFill>
              <a:srgbClr val="C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8912" y="2606040"/>
            <a:ext cx="347472" cy="347472"/>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8912" y="2606040"/>
            <a:ext cx="347472" cy="347472"/>
          </a:xfrm>
          <a:prstGeom prst="rect">
            <a:avLst/>
          </a:prstGeom>
          <a:noFill/>
        </p:spPr>
        <p:txBody>
          <a:bodyPr wrap="square" lIns="0" rIns="0" tIns="0" bIns="0" anchor="ctr">
            <a:spAutoFit/>
          </a:bodyPr>
          <a:lstStyle/>
          <a:p>
            <a:pPr algn="ctr"/>
            <a:r>
              <a:rPr sz="1100" b="1" i="0">
                <a:solidFill>
                  <a:srgbClr val="FFFFFF"/>
                </a:solidFill>
                <a:latin typeface="Calibri"/>
              </a:rPr>
              <a:t>3</a:t>
            </a:r>
          </a:p>
        </p:txBody>
      </p:sp>
      <p:sp>
        <p:nvSpPr>
          <p:cNvPr id="17" name="TextBox 16"/>
          <p:cNvSpPr txBox="1"/>
          <p:nvPr/>
        </p:nvSpPr>
        <p:spPr>
          <a:xfrm>
            <a:off x="914400" y="2532888"/>
            <a:ext cx="4800600" cy="237744"/>
          </a:xfrm>
          <a:prstGeom prst="rect">
            <a:avLst/>
          </a:prstGeom>
          <a:noFill/>
        </p:spPr>
        <p:txBody>
          <a:bodyPr wrap="square" lIns="0" rIns="0" tIns="0" bIns="0" anchor="t">
            <a:spAutoFit/>
          </a:bodyPr>
          <a:lstStyle/>
          <a:p>
            <a:pPr algn="l"/>
            <a:r>
              <a:rPr sz="1200" b="1" i="0">
                <a:solidFill>
                  <a:srgbClr val="1A5C38"/>
                </a:solidFill>
                <a:latin typeface="Calibri"/>
              </a:rPr>
              <a:t>💬 Chat</a:t>
            </a:r>
          </a:p>
        </p:txBody>
      </p:sp>
      <p:sp>
        <p:nvSpPr>
          <p:cNvPr id="18" name="TextBox 17"/>
          <p:cNvSpPr txBox="1"/>
          <p:nvPr/>
        </p:nvSpPr>
        <p:spPr>
          <a:xfrm>
            <a:off x="914400" y="2779776"/>
            <a:ext cx="4800600" cy="274320"/>
          </a:xfrm>
          <a:prstGeom prst="rect">
            <a:avLst/>
          </a:prstGeom>
          <a:noFill/>
        </p:spPr>
        <p:txBody>
          <a:bodyPr wrap="square" lIns="0" rIns="0" tIns="0" bIns="0" anchor="t">
            <a:spAutoFit/>
          </a:bodyPr>
          <a:lstStyle/>
          <a:p>
            <a:pPr algn="l"/>
            <a:r>
              <a:rPr sz="1050" b="0" i="0">
                <a:solidFill>
                  <a:srgbClr val="1A1A1A"/>
                </a:solidFill>
                <a:latin typeface="Calibri"/>
              </a:rPr>
              <a:t>«muéstrame el menú del 5 de noviembre» → lo consulta en Azure SQL</a:t>
            </a:r>
          </a:p>
        </p:txBody>
      </p:sp>
      <p:sp>
        <p:nvSpPr>
          <p:cNvPr id="19" name="Rounded Rectangle 18"/>
          <p:cNvSpPr/>
          <p:nvPr/>
        </p:nvSpPr>
        <p:spPr>
          <a:xfrm>
            <a:off x="320040" y="3191256"/>
            <a:ext cx="5486400" cy="603504"/>
          </a:xfrm>
          <a:prstGeom prst="roundRect">
            <a:avLst>
              <a:gd name="adj" fmla="val 5000"/>
            </a:avLst>
          </a:prstGeom>
          <a:solidFill>
            <a:srgbClr val="FFFFFF"/>
          </a:solidFill>
          <a:ln w="12700">
            <a:solidFill>
              <a:srgbClr val="C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38912" y="3319272"/>
            <a:ext cx="347472" cy="347472"/>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8912" y="3319272"/>
            <a:ext cx="347472" cy="347472"/>
          </a:xfrm>
          <a:prstGeom prst="rect">
            <a:avLst/>
          </a:prstGeom>
          <a:noFill/>
        </p:spPr>
        <p:txBody>
          <a:bodyPr wrap="square" lIns="0" rIns="0" tIns="0" bIns="0" anchor="ctr">
            <a:spAutoFit/>
          </a:bodyPr>
          <a:lstStyle/>
          <a:p>
            <a:pPr algn="ctr"/>
            <a:r>
              <a:rPr sz="1100" b="1" i="0">
                <a:solidFill>
                  <a:srgbClr val="FFFFFF"/>
                </a:solidFill>
                <a:latin typeface="Calibri"/>
              </a:rPr>
              <a:t>4</a:t>
            </a:r>
          </a:p>
        </p:txBody>
      </p:sp>
      <p:sp>
        <p:nvSpPr>
          <p:cNvPr id="22" name="TextBox 21"/>
          <p:cNvSpPr txBox="1"/>
          <p:nvPr/>
        </p:nvSpPr>
        <p:spPr>
          <a:xfrm>
            <a:off x="914400" y="3246120"/>
            <a:ext cx="4800600" cy="237744"/>
          </a:xfrm>
          <a:prstGeom prst="rect">
            <a:avLst/>
          </a:prstGeom>
          <a:noFill/>
        </p:spPr>
        <p:txBody>
          <a:bodyPr wrap="square" lIns="0" rIns="0" tIns="0" bIns="0" anchor="t">
            <a:spAutoFit/>
          </a:bodyPr>
          <a:lstStyle/>
          <a:p>
            <a:pPr algn="l"/>
            <a:r>
              <a:rPr sz="1200" b="1" i="0">
                <a:solidFill>
                  <a:srgbClr val="1A5C38"/>
                </a:solidFill>
                <a:latin typeface="Calibri"/>
              </a:rPr>
              <a:t>📅 Menú del Mes</a:t>
            </a:r>
          </a:p>
        </p:txBody>
      </p:sp>
      <p:sp>
        <p:nvSpPr>
          <p:cNvPr id="23" name="TextBox 22"/>
          <p:cNvSpPr txBox="1"/>
          <p:nvPr/>
        </p:nvSpPr>
        <p:spPr>
          <a:xfrm>
            <a:off x="914400" y="3493008"/>
            <a:ext cx="4800600" cy="274320"/>
          </a:xfrm>
          <a:prstGeom prst="rect">
            <a:avLst/>
          </a:prstGeom>
          <a:noFill/>
        </p:spPr>
        <p:txBody>
          <a:bodyPr wrap="square" lIns="0" rIns="0" tIns="0" bIns="0" anchor="t">
            <a:spAutoFit/>
          </a:bodyPr>
          <a:lstStyle/>
          <a:p>
            <a:pPr algn="l"/>
            <a:r>
              <a:rPr sz="1050" b="0" i="0">
                <a:solidFill>
                  <a:srgbClr val="1A1A1A"/>
                </a:solidFill>
                <a:latin typeface="Calibri"/>
              </a:rPr>
              <a:t>Ver un día con su semáforo y el resumen % del mes</a:t>
            </a:r>
          </a:p>
        </p:txBody>
      </p:sp>
      <p:sp>
        <p:nvSpPr>
          <p:cNvPr id="24" name="Rounded Rectangle 23"/>
          <p:cNvSpPr/>
          <p:nvPr/>
        </p:nvSpPr>
        <p:spPr>
          <a:xfrm>
            <a:off x="320040" y="3904487"/>
            <a:ext cx="5486400" cy="603504"/>
          </a:xfrm>
          <a:prstGeom prst="roundRect">
            <a:avLst>
              <a:gd name="adj" fmla="val 5000"/>
            </a:avLst>
          </a:prstGeom>
          <a:solidFill>
            <a:srgbClr val="FFFFFF"/>
          </a:solidFill>
          <a:ln w="12700">
            <a:solidFill>
              <a:srgbClr val="C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38912" y="4032503"/>
            <a:ext cx="347472" cy="347472"/>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8912" y="4032503"/>
            <a:ext cx="347472" cy="347472"/>
          </a:xfrm>
          <a:prstGeom prst="rect">
            <a:avLst/>
          </a:prstGeom>
          <a:noFill/>
        </p:spPr>
        <p:txBody>
          <a:bodyPr wrap="square" lIns="0" rIns="0" tIns="0" bIns="0" anchor="ctr">
            <a:spAutoFit/>
          </a:bodyPr>
          <a:lstStyle/>
          <a:p>
            <a:pPr algn="ctr"/>
            <a:r>
              <a:rPr sz="1100" b="1" i="0">
                <a:solidFill>
                  <a:srgbClr val="FFFFFF"/>
                </a:solidFill>
                <a:latin typeface="Calibri"/>
              </a:rPr>
              <a:t>5</a:t>
            </a:r>
          </a:p>
        </p:txBody>
      </p:sp>
      <p:sp>
        <p:nvSpPr>
          <p:cNvPr id="27" name="TextBox 26"/>
          <p:cNvSpPr txBox="1"/>
          <p:nvPr/>
        </p:nvSpPr>
        <p:spPr>
          <a:xfrm>
            <a:off x="914400" y="3959351"/>
            <a:ext cx="4800600" cy="237744"/>
          </a:xfrm>
          <a:prstGeom prst="rect">
            <a:avLst/>
          </a:prstGeom>
          <a:noFill/>
        </p:spPr>
        <p:txBody>
          <a:bodyPr wrap="square" lIns="0" rIns="0" tIns="0" bIns="0" anchor="t">
            <a:spAutoFit/>
          </a:bodyPr>
          <a:lstStyle/>
          <a:p>
            <a:pPr algn="l"/>
            <a:r>
              <a:rPr sz="1200" b="1" i="0">
                <a:solidFill>
                  <a:srgbClr val="1A5C38"/>
                </a:solidFill>
                <a:latin typeface="Calibri"/>
              </a:rPr>
              <a:t>💬 Chat</a:t>
            </a:r>
          </a:p>
        </p:txBody>
      </p:sp>
      <p:sp>
        <p:nvSpPr>
          <p:cNvPr id="28" name="TextBox 27"/>
          <p:cNvSpPr txBox="1"/>
          <p:nvPr/>
        </p:nvSpPr>
        <p:spPr>
          <a:xfrm>
            <a:off x="914400" y="4206240"/>
            <a:ext cx="4800600" cy="274320"/>
          </a:xfrm>
          <a:prstGeom prst="rect">
            <a:avLst/>
          </a:prstGeom>
          <a:noFill/>
        </p:spPr>
        <p:txBody>
          <a:bodyPr wrap="square" lIns="0" rIns="0" tIns="0" bIns="0" anchor="t">
            <a:spAutoFit/>
          </a:bodyPr>
          <a:lstStyle/>
          <a:p>
            <a:pPr algn="l"/>
            <a:r>
              <a:rPr sz="1050" b="0" i="0">
                <a:solidFill>
                  <a:srgbClr val="1A1A1A"/>
                </a:solidFill>
                <a:latin typeface="Calibri"/>
              </a:rPr>
              <a:t>«cambia el postre del día 5 por …» → actualiza Azure SQL</a:t>
            </a:r>
          </a:p>
        </p:txBody>
      </p:sp>
      <p:sp>
        <p:nvSpPr>
          <p:cNvPr id="29" name="Rounded Rectangle 28"/>
          <p:cNvSpPr/>
          <p:nvPr/>
        </p:nvSpPr>
        <p:spPr>
          <a:xfrm>
            <a:off x="6035040" y="1051560"/>
            <a:ext cx="2788920" cy="3456432"/>
          </a:xfrm>
          <a:prstGeom prst="roundRect">
            <a:avLst>
              <a:gd name="adj" fmla="val 5000"/>
            </a:avLst>
          </a:prstGeom>
          <a:solidFill>
            <a:srgbClr val="FFFFFF"/>
          </a:solidFill>
          <a:ln w="12700">
            <a:solidFill>
              <a:srgbClr val="C8D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035040" y="1051560"/>
            <a:ext cx="2788920" cy="411480"/>
          </a:xfrm>
          <a:prstGeom prst="roundRect">
            <a:avLst>
              <a:gd name="adj" fmla="val 12000"/>
            </a:avLst>
          </a:prstGeom>
          <a:solidFill>
            <a:srgbClr val="0D2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035040" y="1280160"/>
            <a:ext cx="2788920" cy="182880"/>
          </a:xfrm>
          <a:prstGeom prst="rect">
            <a:avLst/>
          </a:prstGeom>
          <a:solidFill>
            <a:srgbClr val="0D2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144768" y="1051560"/>
            <a:ext cx="2569463" cy="411480"/>
          </a:xfrm>
          <a:prstGeom prst="rect">
            <a:avLst/>
          </a:prstGeom>
          <a:noFill/>
        </p:spPr>
        <p:txBody>
          <a:bodyPr wrap="square" lIns="0" rIns="0" tIns="0" bIns="0" anchor="ctr">
            <a:spAutoFit/>
          </a:bodyPr>
          <a:lstStyle/>
          <a:p>
            <a:pPr algn="l"/>
            <a:r>
              <a:rPr sz="1250" b="1" i="0">
                <a:solidFill>
                  <a:srgbClr val="FFFFFF"/>
                </a:solidFill>
                <a:latin typeface="Calibri"/>
              </a:rPr>
              <a:t>👀  Qué observar</a:t>
            </a:r>
          </a:p>
        </p:txBody>
      </p:sp>
      <p:sp>
        <p:nvSpPr>
          <p:cNvPr id="33" name="TextBox 32"/>
          <p:cNvSpPr txBox="1"/>
          <p:nvPr/>
        </p:nvSpPr>
        <p:spPr>
          <a:xfrm>
            <a:off x="6172200" y="1572768"/>
            <a:ext cx="2560320" cy="3017520"/>
          </a:xfrm>
          <a:prstGeom prst="rect">
            <a:avLst/>
          </a:prstGeom>
          <a:noFill/>
        </p:spPr>
        <p:txBody>
          <a:bodyPr wrap="square" lIns="0" rIns="0" tIns="0" bIns="0" anchor="t">
            <a:spAutoFit/>
          </a:bodyPr>
          <a:lstStyle/>
          <a:p>
            <a:pPr algn="l">
              <a:spcAft>
                <a:spcPts val="700"/>
              </a:spcAft>
            </a:pPr>
            <a:r>
              <a:rPr sz="1100" b="0" i="0">
                <a:solidFill>
                  <a:srgbClr val="1A1A1A"/>
                </a:solidFill>
                <a:latin typeface="Calibri"/>
              </a:rPr>
              <a:t>›  El agente elige solo la herramienta correcta</a:t>
            </a:r>
          </a:p>
          <a:p>
            <a:pPr algn="l">
              <a:spcAft>
                <a:spcPts val="700"/>
              </a:spcAft>
            </a:pPr>
            <a:r>
              <a:rPr sz="1100" b="0" i="0">
                <a:solidFill>
                  <a:srgbClr val="1A1A1A"/>
                </a:solidFill>
                <a:latin typeface="Calibri"/>
              </a:rPr>
              <a:t>›  Entiende variantes y errores de tipeo</a:t>
            </a:r>
          </a:p>
          <a:p>
            <a:pPr algn="l">
              <a:spcAft>
                <a:spcPts val="700"/>
              </a:spcAft>
            </a:pPr>
            <a:r>
              <a:rPr sz="1100" b="0" i="0">
                <a:solidFill>
                  <a:srgbClr val="1A1A1A"/>
                </a:solidFill>
                <a:latin typeface="Calibri"/>
              </a:rPr>
              <a:t>›  El semáforo en 6 dimensiones</a:t>
            </a:r>
          </a:p>
          <a:p>
            <a:pPr algn="l">
              <a:spcAft>
                <a:spcPts val="700"/>
              </a:spcAft>
            </a:pPr>
            <a:r>
              <a:rPr sz="1100" b="0" i="0">
                <a:solidFill>
                  <a:srgbClr val="1A1A1A"/>
                </a:solidFill>
                <a:latin typeface="Calibri"/>
              </a:rPr>
              <a:t>›  Lo que se cambia queda guardado en Azure SQL</a:t>
            </a:r>
          </a:p>
          <a:p>
            <a:pPr algn="l">
              <a:spcAft>
                <a:spcPts val="700"/>
              </a:spcAft>
            </a:pPr>
            <a:r>
              <a:rPr sz="1100" b="0" i="0">
                <a:solidFill>
                  <a:srgbClr val="1A1A1A"/>
                </a:solidFill>
                <a:latin typeface="Calibri"/>
              </a:rPr>
              <a:t>›  Todo corre en los dos microservicios en Azure</a:t>
            </a:r>
          </a:p>
        </p:txBody>
      </p:sp>
      <p:sp>
        <p:nvSpPr>
          <p:cNvPr id="34" name="TextBox 33"/>
          <p:cNvSpPr txBox="1"/>
          <p:nvPr/>
        </p:nvSpPr>
        <p:spPr>
          <a:xfrm>
            <a:off x="320040" y="4645152"/>
            <a:ext cx="8503920" cy="274320"/>
          </a:xfrm>
          <a:prstGeom prst="rect">
            <a:avLst/>
          </a:prstGeom>
          <a:noFill/>
        </p:spPr>
        <p:txBody>
          <a:bodyPr wrap="square" lIns="0" rIns="0" tIns="0" bIns="0" anchor="t">
            <a:spAutoFit/>
          </a:bodyPr>
          <a:lstStyle/>
          <a:p>
            <a:pPr algn="l"/>
            <a:r>
              <a:rPr sz="1100" b="0" i="0">
                <a:solidFill>
                  <a:srgbClr val="1A1A1A"/>
                </a:solidFill>
                <a:latin typeface="Calibri"/>
              </a:rPr>
              <a:t>🌐 </a:t>
            </a:r>
            <a:r>
              <a:rPr sz="1100" b="1" i="0">
                <a:solidFill>
                  <a:srgbClr val="1A5C38"/>
                </a:solidFill>
                <a:latin typeface="Calibri"/>
              </a:rPr>
              <a:t>nutriagente-app.lemoncliff-18b28fe1.westus2.azurecontainerapps.io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E8F5EE"/>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1A5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8229600" cy="731520"/>
          </a:xfrm>
          <a:prstGeom prst="rect">
            <a:avLst/>
          </a:prstGeom>
          <a:noFill/>
        </p:spPr>
        <p:txBody>
          <a:bodyPr wrap="square" lIns="0" rIns="0" tIns="0" bIns="0" anchor="ctr">
            <a:spAutoFit/>
          </a:bodyPr>
          <a:lstStyle/>
          <a:p>
            <a:pPr algn="l"/>
            <a:r>
              <a:rPr sz="3000" b="1" i="0">
                <a:solidFill>
                  <a:srgbClr val="FFFFFF"/>
                </a:solidFill>
                <a:latin typeface="Cambria"/>
              </a:rPr>
              <a:t>Tecnologías del Agente: ¿Por Qué?</a:t>
            </a:r>
          </a:p>
        </p:txBody>
      </p:sp>
      <p:graphicFrame>
        <p:nvGraphicFramePr>
          <p:cNvPr id="4" name="Table 3"/>
          <p:cNvGraphicFramePr>
            <a:graphicFrameLocks noGrp="1"/>
          </p:cNvGraphicFramePr>
          <p:nvPr/>
        </p:nvGraphicFramePr>
        <p:xfrm>
          <a:off x="320040" y="1051560"/>
          <a:ext cx="8503919" cy="3712464"/>
        </p:xfrm>
        <a:graphic>
          <a:graphicData uri="http://schemas.openxmlformats.org/drawingml/2006/table">
            <a:tbl>
              <a:tblPr firstRow="0" bandRow="0">
                <a:tableStyleId>{5C22544A-7EE6-4342-B048-85BDC9FD1C3A}</a:tableStyleId>
              </a:tblPr>
              <a:tblGrid>
                <a:gridCol w="1828800"/>
                <a:gridCol w="2926080"/>
                <a:gridCol w="3749039"/>
              </a:tblGrid>
              <a:tr h="530352">
                <a:tc>
                  <a:txBody>
                    <a:bodyPr wrap="square"/>
                    <a:lstStyle/>
                    <a:p>
                      <a:pPr algn="l"/>
                      <a:r>
                        <a:rPr sz="1100" b="1" i="0">
                          <a:solidFill>
                            <a:srgbClr val="FFFFFF"/>
                          </a:solidFill>
                          <a:latin typeface="Calibri"/>
                        </a:rPr>
                        <a:t>Tecnología</a:t>
                      </a:r>
                    </a:p>
                  </a:txBody>
                  <a:tcPr marL="73152" marR="73152" marT="36576" marB="36576" anchor="ctr">
                    <a:solidFill>
                      <a:srgbClr val="1A5C38"/>
                    </a:solidFill>
                  </a:tcPr>
                </a:tc>
                <a:tc>
                  <a:txBody>
                    <a:bodyPr wrap="square"/>
                    <a:lstStyle/>
                    <a:p>
                      <a:pPr algn="l"/>
                      <a:r>
                        <a:rPr sz="1100" b="1" i="0">
                          <a:solidFill>
                            <a:srgbClr val="FFFFFF"/>
                          </a:solidFill>
                          <a:latin typeface="Calibri"/>
                        </a:rPr>
                        <a:t>¿Qué es / qué hace?</a:t>
                      </a:r>
                    </a:p>
                  </a:txBody>
                  <a:tcPr marL="73152" marR="73152" marT="36576" marB="36576" anchor="ctr">
                    <a:solidFill>
                      <a:srgbClr val="1A5C38"/>
                    </a:solidFill>
                  </a:tcPr>
                </a:tc>
                <a:tc>
                  <a:txBody>
                    <a:bodyPr wrap="square"/>
                    <a:lstStyle/>
                    <a:p>
                      <a:pPr algn="l"/>
                      <a:r>
                        <a:rPr sz="1100" b="1" i="0">
                          <a:solidFill>
                            <a:srgbClr val="FFFFFF"/>
                          </a:solidFill>
                          <a:latin typeface="Calibri"/>
                        </a:rPr>
                        <a:t>¿Por qué la usé?</a:t>
                      </a:r>
                    </a:p>
                  </a:txBody>
                  <a:tcPr marL="73152" marR="73152" marT="36576" marB="36576" anchor="ctr">
                    <a:solidFill>
                      <a:srgbClr val="1A5C38"/>
                    </a:solidFill>
                  </a:tcPr>
                </a:tc>
              </a:tr>
              <a:tr h="530352">
                <a:tc>
                  <a:txBody>
                    <a:bodyPr wrap="square"/>
                    <a:lstStyle/>
                    <a:p>
                      <a:pPr algn="l"/>
                      <a:r>
                        <a:rPr sz="1050" b="1" i="0">
                          <a:solidFill>
                            <a:srgbClr val="1A5C38"/>
                          </a:solidFill>
                          <a:latin typeface="Calibri"/>
                        </a:rPr>
                        <a:t>🖥️ Streamlit</a:t>
                      </a:r>
                    </a:p>
                  </a:txBody>
                  <a:tcPr marL="73152" marR="73152" marT="36576" marB="36576" anchor="ctr">
                    <a:solidFill>
                      <a:srgbClr val="FFFFFF"/>
                    </a:solidFill>
                  </a:tcPr>
                </a:tc>
                <a:tc>
                  <a:txBody>
                    <a:bodyPr wrap="square"/>
                    <a:lstStyle/>
                    <a:p>
                      <a:pPr algn="l"/>
                      <a:r>
                        <a:rPr sz="1050" b="0" i="0">
                          <a:solidFill>
                            <a:srgbClr val="1A1A1A"/>
                          </a:solidFill>
                          <a:latin typeface="Calibri"/>
                        </a:rPr>
                        <a:t>La página web: chat, menú del mes y semáforo</a:t>
                      </a:r>
                    </a:p>
                  </a:txBody>
                  <a:tcPr marL="73152" marR="73152" marT="36576" marB="36576" anchor="ctr">
                    <a:solidFill>
                      <a:srgbClr val="FFFFFF"/>
                    </a:solidFill>
                  </a:tcPr>
                </a:tc>
                <a:tc>
                  <a:txBody>
                    <a:bodyPr wrap="square"/>
                    <a:lstStyle/>
                    <a:p>
                      <a:pPr algn="l"/>
                      <a:r>
                        <a:rPr sz="1050" b="0" i="0">
                          <a:solidFill>
                            <a:srgbClr val="1A1A1A"/>
                          </a:solidFill>
                          <a:latin typeface="Calibri"/>
                        </a:rPr>
                        <a:t>Permite hacer la web solo con Python, rápido</a:t>
                      </a:r>
                    </a:p>
                  </a:txBody>
                  <a:tcPr marL="73152" marR="73152" marT="36576" marB="36576" anchor="ctr">
                    <a:solidFill>
                      <a:srgbClr val="FFFFFF"/>
                    </a:solidFill>
                  </a:tcPr>
                </a:tc>
              </a:tr>
              <a:tr h="530352">
                <a:tc>
                  <a:txBody>
                    <a:bodyPr wrap="square"/>
                    <a:lstStyle/>
                    <a:p>
                      <a:pPr algn="l"/>
                      <a:r>
                        <a:rPr sz="1050" b="1" i="0">
                          <a:solidFill>
                            <a:srgbClr val="1A5C38"/>
                          </a:solidFill>
                          <a:latin typeface="Calibri"/>
                        </a:rPr>
                        <a:t>🦜 LangChain</a:t>
                      </a:r>
                    </a:p>
                  </a:txBody>
                  <a:tcPr marL="73152" marR="73152" marT="36576" marB="36576" anchor="ctr">
                    <a:solidFill>
                      <a:srgbClr val="F3F9F5"/>
                    </a:solidFill>
                  </a:tcPr>
                </a:tc>
                <a:tc>
                  <a:txBody>
                    <a:bodyPr wrap="square"/>
                    <a:lstStyle/>
                    <a:p>
                      <a:pPr algn="l"/>
                      <a:r>
                        <a:rPr sz="1050" b="0" i="0">
                          <a:solidFill>
                            <a:srgbClr val="1A1A1A"/>
                          </a:solidFill>
                          <a:latin typeface="Calibri"/>
                        </a:rPr>
                        <a:t>Caja de herramientas para crear el agente: conecta el modelo con mis 6 funciones</a:t>
                      </a:r>
                    </a:p>
                  </a:txBody>
                  <a:tcPr marL="73152" marR="73152" marT="36576" marB="36576" anchor="ctr">
                    <a:solidFill>
                      <a:srgbClr val="F3F9F5"/>
                    </a:solidFill>
                  </a:tcPr>
                </a:tc>
                <a:tc>
                  <a:txBody>
                    <a:bodyPr wrap="square"/>
                    <a:lstStyle/>
                    <a:p>
                      <a:pPr algn="l"/>
                      <a:r>
                        <a:rPr sz="1050" b="0" i="0">
                          <a:solidFill>
                            <a:srgbClr val="1A1A1A"/>
                          </a:solidFill>
                          <a:latin typeface="Calibri"/>
                        </a:rPr>
                        <a:t>No tengo que programar desde cero esa conexión</a:t>
                      </a:r>
                    </a:p>
                  </a:txBody>
                  <a:tcPr marL="73152" marR="73152" marT="36576" marB="36576" anchor="ctr">
                    <a:solidFill>
                      <a:srgbClr val="F3F9F5"/>
                    </a:solidFill>
                  </a:tcPr>
                </a:tc>
              </a:tr>
              <a:tr h="530352">
                <a:tc>
                  <a:txBody>
                    <a:bodyPr wrap="square"/>
                    <a:lstStyle/>
                    <a:p>
                      <a:pPr algn="l"/>
                      <a:r>
                        <a:rPr sz="1050" b="1" i="0">
                          <a:solidFill>
                            <a:srgbClr val="1A5C38"/>
                          </a:solidFill>
                          <a:latin typeface="Calibri"/>
                        </a:rPr>
                        <a:t>🔁 LangGraph</a:t>
                      </a:r>
                    </a:p>
                  </a:txBody>
                  <a:tcPr marL="73152" marR="73152" marT="36576" marB="36576" anchor="ctr">
                    <a:solidFill>
                      <a:srgbClr val="FFFFFF"/>
                    </a:solidFill>
                  </a:tcPr>
                </a:tc>
                <a:tc>
                  <a:txBody>
                    <a:bodyPr wrap="square"/>
                    <a:lstStyle/>
                    <a:p>
                      <a:pPr algn="l"/>
                      <a:r>
                        <a:rPr sz="1050" b="0" i="0">
                          <a:solidFill>
                            <a:srgbClr val="1A1A1A"/>
                          </a:solidFill>
                          <a:latin typeface="Calibri"/>
                        </a:rPr>
                        <a:t>El «director» del agente: ordena pensar → usar herramienta → responder, y recuerda la conversación</a:t>
                      </a:r>
                    </a:p>
                  </a:txBody>
                  <a:tcPr marL="73152" marR="73152" marT="36576" marB="36576" anchor="ctr">
                    <a:solidFill>
                      <a:srgbClr val="FFFFFF"/>
                    </a:solidFill>
                  </a:tcPr>
                </a:tc>
                <a:tc>
                  <a:txBody>
                    <a:bodyPr wrap="square"/>
                    <a:lstStyle/>
                    <a:p>
                      <a:pPr algn="l"/>
                      <a:r>
                        <a:rPr sz="1050" b="0" i="0">
                          <a:solidFill>
                            <a:srgbClr val="1A1A1A"/>
                          </a:solidFill>
                          <a:latin typeface="Calibri"/>
                        </a:rPr>
                        <a:t>Viene con LangChain y trae la memoria lista</a:t>
                      </a:r>
                    </a:p>
                  </a:txBody>
                  <a:tcPr marL="73152" marR="73152" marT="36576" marB="36576" anchor="ctr">
                    <a:solidFill>
                      <a:srgbClr val="FFFFFF"/>
                    </a:solidFill>
                  </a:tcPr>
                </a:tc>
              </a:tr>
              <a:tr h="530352">
                <a:tc>
                  <a:txBody>
                    <a:bodyPr wrap="square"/>
                    <a:lstStyle/>
                    <a:p>
                      <a:pPr algn="l"/>
                      <a:r>
                        <a:rPr sz="1050" b="1" i="0">
                          <a:solidFill>
                            <a:srgbClr val="1A5C38"/>
                          </a:solidFill>
                          <a:latin typeface="Calibri"/>
                        </a:rPr>
                        <a:t>🤖 Claude Haiku 4.5</a:t>
                      </a:r>
                    </a:p>
                  </a:txBody>
                  <a:tcPr marL="73152" marR="73152" marT="36576" marB="36576" anchor="ctr">
                    <a:solidFill>
                      <a:srgbClr val="F3F9F5"/>
                    </a:solidFill>
                  </a:tcPr>
                </a:tc>
                <a:tc>
                  <a:txBody>
                    <a:bodyPr wrap="square"/>
                    <a:lstStyle/>
                    <a:p>
                      <a:pPr algn="l"/>
                      <a:r>
                        <a:rPr sz="1050" b="0" i="0">
                          <a:solidFill>
                            <a:srgbClr val="1A1A1A"/>
                          </a:solidFill>
                          <a:latin typeface="Calibri"/>
                        </a:rPr>
                        <a:t>El «cerebro»: entiende al usuario, elige qué herramienta usar y clasifica el semáforo</a:t>
                      </a:r>
                    </a:p>
                  </a:txBody>
                  <a:tcPr marL="73152" marR="73152" marT="36576" marB="36576" anchor="ctr">
                    <a:solidFill>
                      <a:srgbClr val="F3F9F5"/>
                    </a:solidFill>
                  </a:tcPr>
                </a:tc>
                <a:tc>
                  <a:txBody>
                    <a:bodyPr wrap="square"/>
                    <a:lstStyle/>
                    <a:p>
                      <a:pPr algn="l"/>
                      <a:r>
                        <a:rPr sz="1050" b="0" i="0">
                          <a:solidFill>
                            <a:srgbClr val="1A1A1A"/>
                          </a:solidFill>
                          <a:latin typeface="Calibri"/>
                        </a:rPr>
                        <a:t>Rápido y económico; responde de forma estable</a:t>
                      </a:r>
                    </a:p>
                  </a:txBody>
                  <a:tcPr marL="73152" marR="73152" marT="36576" marB="36576" anchor="ctr">
                    <a:solidFill>
                      <a:srgbClr val="F3F9F5"/>
                    </a:solidFill>
                  </a:tcPr>
                </a:tc>
              </a:tr>
              <a:tr h="530352">
                <a:tc>
                  <a:txBody>
                    <a:bodyPr wrap="square"/>
                    <a:lstStyle/>
                    <a:p>
                      <a:pPr algn="l"/>
                      <a:r>
                        <a:rPr sz="1050" b="1" i="0">
                          <a:solidFill>
                            <a:srgbClr val="1A5C38"/>
                          </a:solidFill>
                          <a:latin typeface="Calibri"/>
                        </a:rPr>
                        <a:t>🔌 FastMCP (MCP)</a:t>
                      </a:r>
                    </a:p>
                  </a:txBody>
                  <a:tcPr marL="73152" marR="73152" marT="36576" marB="36576" anchor="ctr">
                    <a:solidFill>
                      <a:srgbClr val="FFFFFF"/>
                    </a:solidFill>
                  </a:tcPr>
                </a:tc>
                <a:tc>
                  <a:txBody>
                    <a:bodyPr wrap="square"/>
                    <a:lstStyle/>
                    <a:p>
                      <a:pPr algn="l"/>
                      <a:r>
                        <a:rPr sz="1050" b="0" i="0">
                          <a:solidFill>
                            <a:srgbClr val="1A1A1A"/>
                          </a:solidFill>
                          <a:latin typeface="Calibri"/>
                        </a:rPr>
                        <a:t>Pone las 6 herramientas en un servicio aparte que el agente llama por la red</a:t>
                      </a:r>
                    </a:p>
                  </a:txBody>
                  <a:tcPr marL="73152" marR="73152" marT="36576" marB="36576" anchor="ctr">
                    <a:solidFill>
                      <a:srgbClr val="FFFFFF"/>
                    </a:solidFill>
                  </a:tcPr>
                </a:tc>
                <a:tc>
                  <a:txBody>
                    <a:bodyPr wrap="square"/>
                    <a:lstStyle/>
                    <a:p>
                      <a:pPr algn="l"/>
                      <a:r>
                        <a:rPr sz="1050" b="0" i="0">
                          <a:solidFill>
                            <a:srgbClr val="1A1A1A"/>
                          </a:solidFill>
                          <a:latin typeface="Calibri"/>
                        </a:rPr>
                        <a:t>MCP es un estándar: las herramientas quedan separadas y reutilizables</a:t>
                      </a:r>
                    </a:p>
                  </a:txBody>
                  <a:tcPr marL="73152" marR="73152" marT="36576" marB="36576" anchor="ctr">
                    <a:solidFill>
                      <a:srgbClr val="FFFFFF"/>
                    </a:solidFill>
                  </a:tcPr>
                </a:tc>
              </a:tr>
              <a:tr h="530352">
                <a:tc>
                  <a:txBody>
                    <a:bodyPr wrap="square"/>
                    <a:lstStyle/>
                    <a:p>
                      <a:pPr algn="l"/>
                      <a:r>
                        <a:rPr sz="1050" b="1" i="0">
                          <a:solidFill>
                            <a:srgbClr val="1A5C38"/>
                          </a:solidFill>
                          <a:latin typeface="Calibri"/>
                        </a:rPr>
                        <a:t>🔭 LangSmith</a:t>
                      </a:r>
                    </a:p>
                  </a:txBody>
                  <a:tcPr marL="73152" marR="73152" marT="36576" marB="36576" anchor="ctr">
                    <a:solidFill>
                      <a:srgbClr val="F3F9F5"/>
                    </a:solidFill>
                  </a:tcPr>
                </a:tc>
                <a:tc>
                  <a:txBody>
                    <a:bodyPr wrap="square"/>
                    <a:lstStyle/>
                    <a:p>
                      <a:pPr algn="l"/>
                      <a:r>
                        <a:rPr sz="1050" b="0" i="0">
                          <a:solidFill>
                            <a:srgbClr val="1A1A1A"/>
                          </a:solidFill>
                          <a:latin typeface="Calibri"/>
                        </a:rPr>
                        <a:t>Panel web de control: muestra cada paso que dio el agente</a:t>
                      </a:r>
                    </a:p>
                  </a:txBody>
                  <a:tcPr marL="73152" marR="73152" marT="36576" marB="36576" anchor="ctr">
                    <a:solidFill>
                      <a:srgbClr val="F3F9F5"/>
                    </a:solidFill>
                  </a:tcPr>
                </a:tc>
                <a:tc>
                  <a:txBody>
                    <a:bodyPr wrap="square"/>
                    <a:lstStyle/>
                    <a:p>
                      <a:pPr algn="l"/>
                      <a:r>
                        <a:rPr sz="1050" b="0" i="0">
                          <a:solidFill>
                            <a:srgbClr val="1A1A1A"/>
                          </a:solidFill>
                          <a:latin typeface="Calibri"/>
                        </a:rPr>
                        <a:t>Para revisar qué hizo y encontrar errores</a:t>
                      </a:r>
                    </a:p>
                  </a:txBody>
                  <a:tcPr marL="73152" marR="73152" marT="36576" marB="36576" anchor="ctr">
                    <a:solidFill>
                      <a:srgbClr val="F3F9F5"/>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E8F5EE"/>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1A5C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8229600" cy="731520"/>
          </a:xfrm>
          <a:prstGeom prst="rect">
            <a:avLst/>
          </a:prstGeom>
          <a:noFill/>
        </p:spPr>
        <p:txBody>
          <a:bodyPr wrap="square" lIns="0" rIns="0" tIns="0" bIns="0" anchor="ctr">
            <a:spAutoFit/>
          </a:bodyPr>
          <a:lstStyle/>
          <a:p>
            <a:pPr algn="l"/>
            <a:r>
              <a:rPr sz="3000" b="1" i="0">
                <a:solidFill>
                  <a:srgbClr val="FFFFFF"/>
                </a:solidFill>
                <a:latin typeface="Cambria"/>
              </a:rPr>
              <a:t>Datos y Nube: ¿Por Qué?</a:t>
            </a:r>
          </a:p>
        </p:txBody>
      </p:sp>
      <p:graphicFrame>
        <p:nvGraphicFramePr>
          <p:cNvPr id="4" name="Table 3"/>
          <p:cNvGraphicFramePr>
            <a:graphicFrameLocks noGrp="1"/>
          </p:cNvGraphicFramePr>
          <p:nvPr/>
        </p:nvGraphicFramePr>
        <p:xfrm>
          <a:off x="320040" y="1051560"/>
          <a:ext cx="8503919" cy="3712464"/>
        </p:xfrm>
        <a:graphic>
          <a:graphicData uri="http://schemas.openxmlformats.org/drawingml/2006/table">
            <a:tbl>
              <a:tblPr firstRow="0" bandRow="0">
                <a:tableStyleId>{5C22544A-7EE6-4342-B048-85BDC9FD1C3A}</a:tableStyleId>
              </a:tblPr>
              <a:tblGrid>
                <a:gridCol w="1828800"/>
                <a:gridCol w="2926080"/>
                <a:gridCol w="3749039"/>
              </a:tblGrid>
              <a:tr h="530352">
                <a:tc>
                  <a:txBody>
                    <a:bodyPr wrap="square"/>
                    <a:lstStyle/>
                    <a:p>
                      <a:pPr algn="l"/>
                      <a:r>
                        <a:rPr sz="1100" b="1" i="0">
                          <a:solidFill>
                            <a:srgbClr val="FFFFFF"/>
                          </a:solidFill>
                          <a:latin typeface="Calibri"/>
                        </a:rPr>
                        <a:t>Tecnología</a:t>
                      </a:r>
                    </a:p>
                  </a:txBody>
                  <a:tcPr marL="73152" marR="73152" marT="36576" marB="36576" anchor="ctr">
                    <a:solidFill>
                      <a:srgbClr val="1A5C38"/>
                    </a:solidFill>
                  </a:tcPr>
                </a:tc>
                <a:tc>
                  <a:txBody>
                    <a:bodyPr wrap="square"/>
                    <a:lstStyle/>
                    <a:p>
                      <a:pPr algn="l"/>
                      <a:r>
                        <a:rPr sz="1100" b="1" i="0">
                          <a:solidFill>
                            <a:srgbClr val="FFFFFF"/>
                          </a:solidFill>
                          <a:latin typeface="Calibri"/>
                        </a:rPr>
                        <a:t>¿Qué es / qué hace?</a:t>
                      </a:r>
                    </a:p>
                  </a:txBody>
                  <a:tcPr marL="73152" marR="73152" marT="36576" marB="36576" anchor="ctr">
                    <a:solidFill>
                      <a:srgbClr val="1A5C38"/>
                    </a:solidFill>
                  </a:tcPr>
                </a:tc>
                <a:tc>
                  <a:txBody>
                    <a:bodyPr wrap="square"/>
                    <a:lstStyle/>
                    <a:p>
                      <a:pPr algn="l"/>
                      <a:r>
                        <a:rPr sz="1100" b="1" i="0">
                          <a:solidFill>
                            <a:srgbClr val="FFFFFF"/>
                          </a:solidFill>
                          <a:latin typeface="Calibri"/>
                        </a:rPr>
                        <a:t>¿Por qué la usé?</a:t>
                      </a:r>
                    </a:p>
                  </a:txBody>
                  <a:tcPr marL="73152" marR="73152" marT="36576" marB="36576" anchor="ctr">
                    <a:solidFill>
                      <a:srgbClr val="1A5C38"/>
                    </a:solidFill>
                  </a:tcPr>
                </a:tc>
              </a:tr>
              <a:tr h="530352">
                <a:tc>
                  <a:txBody>
                    <a:bodyPr wrap="square"/>
                    <a:lstStyle/>
                    <a:p>
                      <a:pPr algn="l"/>
                      <a:r>
                        <a:rPr sz="1050" b="1" i="0">
                          <a:solidFill>
                            <a:srgbClr val="1A5C38"/>
                          </a:solidFill>
                          <a:latin typeface="Calibri"/>
                        </a:rPr>
                        <a:t>📊 openpyxl + pdfplumber</a:t>
                      </a:r>
                    </a:p>
                  </a:txBody>
                  <a:tcPr marL="73152" marR="73152" marT="36576" marB="36576" anchor="ctr">
                    <a:solidFill>
                      <a:srgbClr val="FFFFFF"/>
                    </a:solidFill>
                  </a:tcPr>
                </a:tc>
                <a:tc>
                  <a:txBody>
                    <a:bodyPr wrap="square"/>
                    <a:lstStyle/>
                    <a:p>
                      <a:pPr algn="l"/>
                      <a:r>
                        <a:rPr sz="1050" b="0" i="0">
                          <a:solidFill>
                            <a:srgbClr val="1A1A1A"/>
                          </a:solidFill>
                          <a:latin typeface="Calibri"/>
                        </a:rPr>
                        <a:t>Leen los Excel del comedor y los PDF del MINSA (Archivo 1)</a:t>
                      </a:r>
                    </a:p>
                  </a:txBody>
                  <a:tcPr marL="73152" marR="73152" marT="36576" marB="36576" anchor="ctr">
                    <a:solidFill>
                      <a:srgbClr val="FFFFFF"/>
                    </a:solidFill>
                  </a:tcPr>
                </a:tc>
                <a:tc>
                  <a:txBody>
                    <a:bodyPr wrap="square"/>
                    <a:lstStyle/>
                    <a:p>
                      <a:pPr algn="l"/>
                      <a:r>
                        <a:rPr sz="1050" b="0" i="0">
                          <a:solidFill>
                            <a:srgbClr val="1A1A1A"/>
                          </a:solidFill>
                          <a:latin typeface="Calibri"/>
                        </a:rPr>
                        <a:t>Librerías Python estándar para Excel y para extraer texto de PDF</a:t>
                      </a:r>
                    </a:p>
                  </a:txBody>
                  <a:tcPr marL="73152" marR="73152" marT="36576" marB="36576" anchor="ctr">
                    <a:solidFill>
                      <a:srgbClr val="FFFFFF"/>
                    </a:solidFill>
                  </a:tcPr>
                </a:tc>
              </a:tr>
              <a:tr h="530352">
                <a:tc>
                  <a:txBody>
                    <a:bodyPr wrap="square"/>
                    <a:lstStyle/>
                    <a:p>
                      <a:pPr algn="l"/>
                      <a:r>
                        <a:rPr sz="1050" b="1" i="0">
                          <a:solidFill>
                            <a:srgbClr val="1A5C38"/>
                          </a:solidFill>
                          <a:latin typeface="Calibri"/>
                        </a:rPr>
                        <a:t>🧮 Cohere embed-multilingual-v3</a:t>
                      </a:r>
                    </a:p>
                  </a:txBody>
                  <a:tcPr marL="73152" marR="73152" marT="36576" marB="36576" anchor="ctr">
                    <a:solidFill>
                      <a:srgbClr val="F3F9F5"/>
                    </a:solidFill>
                  </a:tcPr>
                </a:tc>
                <a:tc>
                  <a:txBody>
                    <a:bodyPr wrap="square"/>
                    <a:lstStyle/>
                    <a:p>
                      <a:pPr algn="l"/>
                      <a:r>
                        <a:rPr sz="1050" b="0" i="0">
                          <a:solidFill>
                            <a:srgbClr val="1A1A1A"/>
                          </a:solidFill>
                          <a:latin typeface="Calibri"/>
                        </a:rPr>
                        <a:t>Convierte cada plato y cada consulta en un vector (1024 números)</a:t>
                      </a:r>
                    </a:p>
                  </a:txBody>
                  <a:tcPr marL="73152" marR="73152" marT="36576" marB="36576" anchor="ctr">
                    <a:solidFill>
                      <a:srgbClr val="F3F9F5"/>
                    </a:solidFill>
                  </a:tcPr>
                </a:tc>
                <a:tc>
                  <a:txBody>
                    <a:bodyPr wrap="square"/>
                    <a:lstStyle/>
                    <a:p>
                      <a:pPr algn="l"/>
                      <a:r>
                        <a:rPr sz="1050" b="0" i="0">
                          <a:solidFill>
                            <a:srgbClr val="1A1A1A"/>
                          </a:solidFill>
                          <a:latin typeface="Calibri"/>
                        </a:rPr>
                        <a:t>Todos los datos están en español: es un modelo multilingüe</a:t>
                      </a:r>
                    </a:p>
                  </a:txBody>
                  <a:tcPr marL="73152" marR="73152" marT="36576" marB="36576" anchor="ctr">
                    <a:solidFill>
                      <a:srgbClr val="F3F9F5"/>
                    </a:solidFill>
                  </a:tcPr>
                </a:tc>
              </a:tr>
              <a:tr h="530352">
                <a:tc>
                  <a:txBody>
                    <a:bodyPr wrap="square"/>
                    <a:lstStyle/>
                    <a:p>
                      <a:pPr algn="l"/>
                      <a:r>
                        <a:rPr sz="1050" b="1" i="0">
                          <a:solidFill>
                            <a:srgbClr val="1A5C38"/>
                          </a:solidFill>
                          <a:latin typeface="Calibri"/>
                        </a:rPr>
                        <a:t>🦙 LlamaIndex</a:t>
                      </a:r>
                    </a:p>
                  </a:txBody>
                  <a:tcPr marL="73152" marR="73152" marT="36576" marB="36576" anchor="ctr">
                    <a:solidFill>
                      <a:srgbClr val="FFFFFF"/>
                    </a:solidFill>
                  </a:tcPr>
                </a:tc>
                <a:tc>
                  <a:txBody>
                    <a:bodyPr wrap="square"/>
                    <a:lstStyle/>
                    <a:p>
                      <a:pPr algn="l"/>
                      <a:r>
                        <a:rPr sz="1050" b="0" i="0">
                          <a:solidFill>
                            <a:srgbClr val="1A1A1A"/>
                          </a:solidFill>
                          <a:latin typeface="Calibri"/>
                        </a:rPr>
                        <a:t>Fragmenta, indexa y busca los platos más parecidos (RAG)</a:t>
                      </a:r>
                    </a:p>
                  </a:txBody>
                  <a:tcPr marL="73152" marR="73152" marT="36576" marB="36576" anchor="ctr">
                    <a:solidFill>
                      <a:srgbClr val="FFFFFF"/>
                    </a:solidFill>
                  </a:tcPr>
                </a:tc>
                <a:tc>
                  <a:txBody>
                    <a:bodyPr wrap="square"/>
                    <a:lstStyle/>
                    <a:p>
                      <a:pPr algn="l"/>
                      <a:r>
                        <a:rPr sz="1050" b="0" i="0">
                          <a:solidFill>
                            <a:srgbClr val="1A1A1A"/>
                          </a:solidFill>
                          <a:latin typeface="Calibri"/>
                        </a:rPr>
                        <a:t>Especializado en RAG: lee JSON/PDF, fragmenta y busca con metadata</a:t>
                      </a:r>
                    </a:p>
                  </a:txBody>
                  <a:tcPr marL="73152" marR="73152" marT="36576" marB="36576" anchor="ctr">
                    <a:solidFill>
                      <a:srgbClr val="FFFFFF"/>
                    </a:solidFill>
                  </a:tcPr>
                </a:tc>
              </a:tr>
              <a:tr h="530352">
                <a:tc>
                  <a:txBody>
                    <a:bodyPr wrap="square"/>
                    <a:lstStyle/>
                    <a:p>
                      <a:pPr algn="l"/>
                      <a:r>
                        <a:rPr sz="1050" b="1" i="0">
                          <a:solidFill>
                            <a:srgbClr val="1A5C38"/>
                          </a:solidFill>
                          <a:latin typeface="Calibri"/>
                        </a:rPr>
                        <a:t>💾 SimpleVectorStore</a:t>
                      </a:r>
                    </a:p>
                  </a:txBody>
                  <a:tcPr marL="73152" marR="73152" marT="36576" marB="36576" anchor="ctr">
                    <a:solidFill>
                      <a:srgbClr val="F3F9F5"/>
                    </a:solidFill>
                  </a:tcPr>
                </a:tc>
                <a:tc>
                  <a:txBody>
                    <a:bodyPr wrap="square"/>
                    <a:lstStyle/>
                    <a:p>
                      <a:pPr algn="l"/>
                      <a:r>
                        <a:rPr sz="1050" b="0" i="0">
                          <a:solidFill>
                            <a:srgbClr val="1A1A1A"/>
                          </a:solidFill>
                          <a:latin typeface="Calibri"/>
                        </a:rPr>
                        <a:t>Guarda el índice en la carpeta indice_platos/</a:t>
                      </a:r>
                    </a:p>
                  </a:txBody>
                  <a:tcPr marL="73152" marR="73152" marT="36576" marB="36576" anchor="ctr">
                    <a:solidFill>
                      <a:srgbClr val="F3F9F5"/>
                    </a:solidFill>
                  </a:tcPr>
                </a:tc>
                <a:tc>
                  <a:txBody>
                    <a:bodyPr wrap="square"/>
                    <a:lstStyle/>
                    <a:p>
                      <a:pPr algn="l"/>
                      <a:r>
                        <a:rPr sz="1050" b="0" i="0">
                          <a:solidFill>
                            <a:srgbClr val="1A1A1A"/>
                          </a:solidFill>
                          <a:latin typeface="Calibri"/>
                        </a:rPr>
                        <a:t>El índice es pequeño (829 nodos): basta un archivo, sin servidor ni costo</a:t>
                      </a:r>
                    </a:p>
                  </a:txBody>
                  <a:tcPr marL="73152" marR="73152" marT="36576" marB="36576" anchor="ctr">
                    <a:solidFill>
                      <a:srgbClr val="F3F9F5"/>
                    </a:solidFill>
                  </a:tcPr>
                </a:tc>
              </a:tr>
              <a:tr h="530352">
                <a:tc>
                  <a:txBody>
                    <a:bodyPr wrap="square"/>
                    <a:lstStyle/>
                    <a:p>
                      <a:pPr algn="l"/>
                      <a:r>
                        <a:rPr sz="1050" b="1" i="0">
                          <a:solidFill>
                            <a:srgbClr val="1A5C38"/>
                          </a:solidFill>
                          <a:latin typeface="Calibri"/>
                        </a:rPr>
                        <a:t>🗄️ Azure SQL</a:t>
                      </a:r>
                    </a:p>
                  </a:txBody>
                  <a:tcPr marL="73152" marR="73152" marT="36576" marB="36576" anchor="ctr">
                    <a:solidFill>
                      <a:srgbClr val="FFFFFF"/>
                    </a:solidFill>
                  </a:tcPr>
                </a:tc>
                <a:tc>
                  <a:txBody>
                    <a:bodyPr wrap="square"/>
                    <a:lstStyle/>
                    <a:p>
                      <a:pPr algn="l"/>
                      <a:r>
                        <a:rPr sz="1050" b="0" i="0">
                          <a:solidFill>
                            <a:srgbClr val="1A1A1A"/>
                          </a:solidFill>
                          <a:latin typeface="Calibri"/>
                        </a:rPr>
                        <a:t>Guarda menús por fecha, platos nuevos, caché e historial</a:t>
                      </a:r>
                    </a:p>
                  </a:txBody>
                  <a:tcPr marL="73152" marR="73152" marT="36576" marB="36576" anchor="ctr">
                    <a:solidFill>
                      <a:srgbClr val="FFFFFF"/>
                    </a:solidFill>
                  </a:tcPr>
                </a:tc>
                <a:tc>
                  <a:txBody>
                    <a:bodyPr wrap="square"/>
                    <a:lstStyle/>
                    <a:p>
                      <a:pPr algn="l"/>
                      <a:r>
                        <a:rPr sz="1050" b="0" i="0">
                          <a:solidFill>
                            <a:srgbClr val="1A1A1A"/>
                          </a:solidFill>
                          <a:latin typeface="Calibri"/>
                        </a:rPr>
                        <a:t>Datos ordenados en tablas que se consultan por fecha; está en la misma nube</a:t>
                      </a:r>
                    </a:p>
                  </a:txBody>
                  <a:tcPr marL="73152" marR="73152" marT="36576" marB="36576" anchor="ctr">
                    <a:solidFill>
                      <a:srgbClr val="FFFFFF"/>
                    </a:solidFill>
                  </a:tcPr>
                </a:tc>
              </a:tr>
              <a:tr h="530352">
                <a:tc>
                  <a:txBody>
                    <a:bodyPr wrap="square"/>
                    <a:lstStyle/>
                    <a:p>
                      <a:pPr algn="l"/>
                      <a:r>
                        <a:rPr sz="1050" b="1" i="0">
                          <a:solidFill>
                            <a:srgbClr val="1A5C38"/>
                          </a:solidFill>
                          <a:latin typeface="Calibri"/>
                        </a:rPr>
                        <a:t>🐳 Docker + Container Apps</a:t>
                      </a:r>
                    </a:p>
                  </a:txBody>
                  <a:tcPr marL="73152" marR="73152" marT="36576" marB="36576" anchor="ctr">
                    <a:solidFill>
                      <a:srgbClr val="F3F9F5"/>
                    </a:solidFill>
                  </a:tcPr>
                </a:tc>
                <a:tc>
                  <a:txBody>
                    <a:bodyPr wrap="square"/>
                    <a:lstStyle/>
                    <a:p>
                      <a:pPr algn="l"/>
                      <a:r>
                        <a:rPr sz="1050" b="0" i="0">
                          <a:solidFill>
                            <a:srgbClr val="1A1A1A"/>
                          </a:solidFill>
                          <a:latin typeface="Calibri"/>
                        </a:rPr>
                        <a:t>Empaqueta y ejecuta los 2 microservicios en Azure</a:t>
                      </a:r>
                    </a:p>
                  </a:txBody>
                  <a:tcPr marL="73152" marR="73152" marT="36576" marB="36576" anchor="ctr">
                    <a:solidFill>
                      <a:srgbClr val="F3F9F5"/>
                    </a:solidFill>
                  </a:tcPr>
                </a:tc>
                <a:tc>
                  <a:txBody>
                    <a:bodyPr wrap="square"/>
                    <a:lstStyle/>
                    <a:p>
                      <a:pPr algn="l"/>
                      <a:r>
                        <a:rPr sz="1050" b="0" i="0">
                          <a:solidFill>
                            <a:srgbClr val="1A1A1A"/>
                          </a:solidFill>
                          <a:latin typeface="Calibri"/>
                        </a:rPr>
                        <a:t>Cada servicio con sus dependencias; sin administrar servidores; escala a 0</a:t>
                      </a:r>
                    </a:p>
                  </a:txBody>
                  <a:tcPr marL="73152" marR="73152" marT="36576" marB="36576" anchor="ctr">
                    <a:solidFill>
                      <a:srgbClr val="F3F9F5"/>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TotalTime>
  <Words>1176</Words>
  <Application>Microsoft Office PowerPoint</Application>
  <PresentationFormat>Presentación en pantalla (16:9)</PresentationFormat>
  <Paragraphs>171</Paragraphs>
  <Slides>11</Slides>
  <Notes>9</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11</vt:i4>
      </vt:variant>
    </vt:vector>
  </HeadingPairs>
  <TitlesOfParts>
    <vt:vector size="15" baseType="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Estefany Miluska Rogovich Babilonia</cp:lastModifiedBy>
  <cp:revision>7</cp:revision>
  <dcterms:created xsi:type="dcterms:W3CDTF">2026-09-10T20:29:13Z</dcterms:created>
  <dcterms:modified xsi:type="dcterms:W3CDTF">2026-10-21T17:28:18Z</dcterms:modified>
</cp:coreProperties>
</file>